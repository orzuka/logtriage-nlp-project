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64" r:id="rId2"/>
    <p:sldId id="256" r:id="rId3"/>
    <p:sldId id="257" r:id="rId4"/>
    <p:sldId id="265" r:id="rId5"/>
    <p:sldId id="261" r:id="rId6"/>
    <p:sldId id="262" r:id="rId7"/>
    <p:sldId id="258" r:id="rId8"/>
    <p:sldId id="266" r:id="rId9"/>
    <p:sldId id="259" r:id="rId10"/>
    <p:sldId id="267" r:id="rId11"/>
    <p:sldId id="263" r:id="rId12"/>
    <p:sldId id="268" r:id="rId13"/>
    <p:sldId id="260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6" d="100"/>
          <a:sy n="106" d="100"/>
        </p:scale>
        <p:origin x="75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908723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0712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21F"/>
          </a:solidFill>
          <a:ln w="12700">
            <a:solidFill>
              <a:srgbClr val="0712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8C7D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9731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DD3FC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DD3FC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146304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8FAFC"/>
                </a:solidFill>
              </a:defRPr>
            </a:pPr>
            <a:r>
              <a:t>LogTriage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331720"/>
            <a:ext cx="9875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94A3B8"/>
                </a:solidFill>
              </a:defRPr>
            </a:pPr>
            <a:r>
              <a:t>Explainable Multi-Output Triage for E-Commerce Microservice Logs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246120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7DD3FC"/>
                </a:solidFill>
              </a:defRPr>
            </a:pPr>
            <a:r>
              <a:t>NLP Course Final Presentation  •  Synthetic benchmark  •  Real local baseline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6692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94A3B8"/>
                </a:solidFill>
              </a:defRPr>
            </a:pPr>
            <a:r>
              <a:t>Reproduce results: python src/train_baselines.py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94A3B8"/>
                </a:solidFill>
              </a:defRPr>
            </a:pPr>
            <a:r>
              <a:t>LogTriage - NLP Course Final Presentation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94A3B8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02920" y="469449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Review and refined project definition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3657600" cy="5074920"/>
          </a:xfrm>
          <a:prstGeom prst="roundRect">
            <a:avLst>
              <a:gd name="adj" fmla="val 3000"/>
            </a:avLst>
          </a:prstGeom>
          <a:solidFill>
            <a:srgbClr val="0E1B2A"/>
          </a:solidFill>
          <a:ln w="12700">
            <a:solidFill>
              <a:srgbClr val="2445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/mnt/data/logtriage_work/logtriage_submission/visuals/visual_abstr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25880"/>
            <a:ext cx="3291840" cy="1417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971800"/>
            <a:ext cx="1737360" cy="256032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7121F"/>
                </a:solidFill>
              </a:rPr>
              <a:t>Motivating use case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77240" y="3337560"/>
            <a:ext cx="292608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lang="en-US" sz="1070" dirty="0">
                <a:solidFill>
                  <a:srgbClr val="F8FAFC"/>
                </a:solidFill>
              </a:rPr>
              <a:t>Checkout incidents create logs across gateway, auth, cart, payment, inventory, orders, and queues.</a:t>
            </a:r>
            <a:endParaRPr lang="en-US" sz="1070" dirty="0"/>
          </a:p>
          <a:p>
            <a:r>
              <a:rPr lang="en-US" sz="1070" dirty="0">
                <a:solidFill>
                  <a:srgbClr val="F8FAFC"/>
                </a:solidFill>
              </a:rPr>
              <a:t>Operators need fast, structured triage: what failed, where, how severe, what action, and what evidence.</a:t>
            </a:r>
            <a:endParaRPr lang="en-US" sz="1070" dirty="0"/>
          </a:p>
          <a:p>
            <a:r>
              <a:rPr lang="en-US" sz="1070" dirty="0">
                <a:solidFill>
                  <a:srgbClr val="F8FAFC"/>
                </a:solidFill>
              </a:rPr>
              <a:t>Manual reading and keyword search are slow and inconsistent.</a:t>
            </a:r>
            <a:endParaRPr lang="en-US" sz="1070" dirty="0"/>
          </a:p>
        </p:txBody>
      </p:sp>
      <p:sp>
        <p:nvSpPr>
          <p:cNvPr id="9" name="Shape 6"/>
          <p:cNvSpPr/>
          <p:nvPr/>
        </p:nvSpPr>
        <p:spPr>
          <a:xfrm>
            <a:off x="4389120" y="1097280"/>
            <a:ext cx="3520440" cy="2377440"/>
          </a:xfrm>
          <a:prstGeom prst="roundRect">
            <a:avLst>
              <a:gd name="adj" fmla="val 4615"/>
            </a:avLst>
          </a:prstGeom>
          <a:solidFill>
            <a:srgbClr val="10263A"/>
          </a:solidFill>
          <a:ln w="12700">
            <a:solidFill>
              <a:srgbClr val="2445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617720" y="1298448"/>
            <a:ext cx="731520" cy="256032"/>
          </a:xfrm>
          <a:prstGeom prst="rect">
            <a:avLst/>
          </a:prstGeom>
          <a:solidFill>
            <a:srgbClr val="18C7D8"/>
          </a:solidFill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7121F"/>
                </a:solidFill>
              </a:rPr>
              <a:t>Input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617720" y="1627632"/>
            <a:ext cx="3063240" cy="1554480"/>
          </a:xfrm>
          <a:prstGeom prst="roundRect">
            <a:avLst>
              <a:gd name="adj" fmla="val 7059"/>
            </a:avLst>
          </a:prstGeom>
          <a:solidFill>
            <a:srgbClr val="091827"/>
          </a:solidFill>
          <a:ln w="12700">
            <a:solidFill>
              <a:srgbClr val="1E3A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782312" y="1792224"/>
            <a:ext cx="2734056" cy="12252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D7E9FF"/>
                </a:solidFill>
              </a:rPr>
              <a:t>[1] gateway INFO POST /checkout request_id=req_912</a:t>
            </a:r>
            <a:endParaRPr lang="en-US" sz="860" dirty="0"/>
          </a:p>
          <a:p>
            <a:pPr marL="0" indent="0" algn="l">
              <a:buNone/>
            </a:pPr>
            <a:r>
              <a:rPr lang="en-US" sz="860" dirty="0">
                <a:solidFill>
                  <a:srgbClr val="D7E9FF"/>
                </a:solidFill>
              </a:rPr>
              <a:t>[2] checkout INFO validating cart_id=cart_771</a:t>
            </a:r>
            <a:endParaRPr lang="en-US" sz="860" dirty="0"/>
          </a:p>
          <a:p>
            <a:pPr marL="0" indent="0" algn="l">
              <a:buNone/>
            </a:pPr>
            <a:r>
              <a:rPr lang="en-US" sz="860" dirty="0">
                <a:solidFill>
                  <a:srgbClr val="D7E9FF"/>
                </a:solidFill>
              </a:rPr>
              <a:t>[3] payment-service WARN provider_latency=4900ms</a:t>
            </a:r>
            <a:endParaRPr lang="en-US" sz="860" dirty="0"/>
          </a:p>
          <a:p>
            <a:pPr marL="0" indent="0" algn="l">
              <a:buNone/>
            </a:pPr>
            <a:r>
              <a:rPr lang="en-US" sz="860" dirty="0">
                <a:solidFill>
                  <a:srgbClr val="D7E9FF"/>
                </a:solidFill>
              </a:rPr>
              <a:t>[4] payment-service ERROR payment gateway timeout after 5000ms</a:t>
            </a:r>
            <a:endParaRPr lang="en-US" sz="860" dirty="0"/>
          </a:p>
          <a:p>
            <a:pPr marL="0" indent="0" algn="l">
              <a:buNone/>
            </a:pPr>
            <a:r>
              <a:rPr lang="en-US" sz="860" dirty="0">
                <a:solidFill>
                  <a:srgbClr val="D7E9FF"/>
                </a:solidFill>
              </a:rPr>
              <a:t>[5] order-service ERROR order creation failed: auth missing</a:t>
            </a:r>
            <a:endParaRPr lang="en-US" sz="860" dirty="0"/>
          </a:p>
          <a:p>
            <a:pPr marL="0" indent="0" algn="l">
              <a:buNone/>
            </a:pPr>
            <a:r>
              <a:rPr lang="en-US" sz="860" dirty="0">
                <a:solidFill>
                  <a:srgbClr val="D7E9FF"/>
                </a:solidFill>
              </a:rPr>
              <a:t>[6] gateway ERROR status=503 route=/checkout</a:t>
            </a:r>
            <a:endParaRPr lang="en-US" sz="860" dirty="0"/>
          </a:p>
        </p:txBody>
      </p:sp>
      <p:sp>
        <p:nvSpPr>
          <p:cNvPr id="13" name="Shape 10"/>
          <p:cNvSpPr/>
          <p:nvPr/>
        </p:nvSpPr>
        <p:spPr>
          <a:xfrm>
            <a:off x="8138160" y="1097280"/>
            <a:ext cx="3520440" cy="2377440"/>
          </a:xfrm>
          <a:prstGeom prst="roundRect">
            <a:avLst>
              <a:gd name="adj" fmla="val 4615"/>
            </a:avLst>
          </a:prstGeom>
          <a:solidFill>
            <a:srgbClr val="10263A"/>
          </a:solidFill>
          <a:ln w="12700">
            <a:solidFill>
              <a:srgbClr val="2445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8366760" y="1298448"/>
            <a:ext cx="822960" cy="256032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7121F"/>
                </a:solidFill>
              </a:rPr>
              <a:t>Output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366760" y="1627632"/>
            <a:ext cx="3063240" cy="1554480"/>
          </a:xfrm>
          <a:prstGeom prst="roundRect">
            <a:avLst>
              <a:gd name="adj" fmla="val 7059"/>
            </a:avLst>
          </a:prstGeom>
          <a:solidFill>
            <a:srgbClr val="08131F"/>
          </a:solidFill>
          <a:ln w="12700">
            <a:solidFill>
              <a:srgbClr val="1E3A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31352" y="1792224"/>
            <a:ext cx="2734056" cy="12252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D1FAE5"/>
                </a:solidFill>
              </a:rPr>
              <a:t>{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D1FAE5"/>
                </a:solidFill>
              </a:rPr>
              <a:t>  "failure_cause": "payment_gateway_timeout",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D1FAE5"/>
                </a:solidFill>
              </a:rPr>
              <a:t>  "affected_service": "payment-service",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D1FAE5"/>
                </a:solidFill>
              </a:rPr>
              <a:t>  "severity": "high",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D1FAE5"/>
                </a:solidFill>
              </a:rPr>
              <a:t>  "recommended_action": "check_payment_gateway_and_retry",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D1FAE5"/>
                </a:solidFill>
              </a:rPr>
              <a:t>  "evidence_lines": [3, 4, 6]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D1FAE5"/>
                </a:solidFill>
              </a:rPr>
              <a:t>}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389120" y="3703320"/>
            <a:ext cx="7269480" cy="2468880"/>
          </a:xfrm>
          <a:prstGeom prst="roundRect">
            <a:avLst>
              <a:gd name="adj" fmla="val 4444"/>
            </a:avLst>
          </a:prstGeom>
          <a:solidFill>
            <a:srgbClr val="0E1B2A"/>
          </a:solidFill>
          <a:ln w="12700">
            <a:solidFill>
              <a:srgbClr val="2445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4617720" y="3913632"/>
            <a:ext cx="274320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DD3FC"/>
                </a:solidFill>
              </a:rPr>
              <a:t>Formal ML framing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617720" y="4279392"/>
            <a:ext cx="672084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lang="en-US" sz="1100" dirty="0">
                <a:solidFill>
                  <a:srgbClr val="F8FAFC"/>
                </a:solidFill>
              </a:rPr>
              <a:t>Multi-output NLP classification + evidence-line selection from numbered log sessions.</a:t>
            </a:r>
            <a:endParaRPr lang="en-US" sz="1100" dirty="0"/>
          </a:p>
          <a:p>
            <a:r>
              <a:rPr lang="en-US" sz="1100" dirty="0">
                <a:solidFill>
                  <a:srgbClr val="F8FAFC"/>
                </a:solidFill>
              </a:rPr>
              <a:t>Fixed schema enables measurable outputs: cause, service, severity, action, evidence lines.</a:t>
            </a:r>
            <a:endParaRPr lang="en-US" sz="1100" dirty="0"/>
          </a:p>
          <a:p>
            <a:r>
              <a:rPr lang="en-US" sz="1100" dirty="0">
                <a:solidFill>
                  <a:srgbClr val="F8FAFC"/>
                </a:solidFill>
              </a:rPr>
              <a:t>Compares rule-based, TF-IDF/LogReg, prompt-based LLM baselines, and prepared transformer training pipeline.</a:t>
            </a:r>
            <a:endParaRPr lang="en-US" sz="1100" dirty="0"/>
          </a:p>
          <a:p>
            <a:r>
              <a:rPr lang="en-US" sz="1100" dirty="0">
                <a:solidFill>
                  <a:srgbClr val="F8FAFC"/>
                </a:solidFill>
              </a:rPr>
              <a:t>Metrics: macro-F1/accuracy per field, evidence-line F1, and full JSON exact match.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02920" y="64465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</a:rPr>
              <a:t>LogTriage - NLP Course Final Presentation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DD3FC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4271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Project achievements and novelty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94360" y="1005840"/>
            <a:ext cx="5120640" cy="5349240"/>
          </a:xfrm>
          <a:prstGeom prst="roundRect">
            <a:avLst>
              <a:gd name="adj" fmla="val 2143"/>
            </a:avLst>
          </a:prstGeom>
          <a:solidFill>
            <a:srgbClr val="0E1B2A"/>
          </a:solidFill>
          <a:ln w="12700">
            <a:solidFill>
              <a:srgbClr val="2445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68680" y="1234440"/>
            <a:ext cx="438912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7DD3FC"/>
                </a:solidFill>
              </a:rPr>
              <a:t>Completed project artifacts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68680" y="1764792"/>
            <a:ext cx="2057400" cy="749808"/>
          </a:xfrm>
          <a:prstGeom prst="roundRect">
            <a:avLst>
              <a:gd name="adj" fmla="val 14634"/>
            </a:avLst>
          </a:prstGeom>
          <a:solidFill>
            <a:srgbClr val="0B2335"/>
          </a:solidFill>
          <a:ln w="12700">
            <a:solidFill>
              <a:srgbClr val="1E45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96696" y="1837944"/>
            <a:ext cx="73152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97316"/>
                </a:solidFill>
              </a:rPr>
              <a:t>5,000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96696" y="2112264"/>
            <a:ext cx="17373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870" dirty="0">
                <a:solidFill>
                  <a:srgbClr val="F8FAFC"/>
                </a:solidFill>
              </a:rPr>
              <a:t>synthetic log sessions</a:t>
            </a:r>
            <a:endParaRPr lang="en-US" sz="870" dirty="0"/>
          </a:p>
        </p:txBody>
      </p:sp>
      <p:sp>
        <p:nvSpPr>
          <p:cNvPr id="10" name="Shape 8"/>
          <p:cNvSpPr/>
          <p:nvPr/>
        </p:nvSpPr>
        <p:spPr>
          <a:xfrm>
            <a:off x="3200400" y="1764792"/>
            <a:ext cx="2057400" cy="749808"/>
          </a:xfrm>
          <a:prstGeom prst="roundRect">
            <a:avLst>
              <a:gd name="adj" fmla="val 14634"/>
            </a:avLst>
          </a:prstGeom>
          <a:solidFill>
            <a:srgbClr val="0B2335"/>
          </a:solidFill>
          <a:ln w="12700">
            <a:solidFill>
              <a:srgbClr val="1E45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328416" y="1837944"/>
            <a:ext cx="7315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 fontScale="77500" lnSpcReduction="2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97316"/>
                </a:solidFill>
              </a:rPr>
              <a:t>3 splits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328416" y="2112264"/>
            <a:ext cx="1269463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870" dirty="0">
                <a:solidFill>
                  <a:srgbClr val="F8FAFC"/>
                </a:solidFill>
              </a:rPr>
              <a:t>train / validation / test</a:t>
            </a:r>
            <a:endParaRPr lang="en-US" sz="870" dirty="0"/>
          </a:p>
        </p:txBody>
      </p:sp>
      <p:sp>
        <p:nvSpPr>
          <p:cNvPr id="13" name="Shape 11"/>
          <p:cNvSpPr/>
          <p:nvPr/>
        </p:nvSpPr>
        <p:spPr>
          <a:xfrm>
            <a:off x="868680" y="2788920"/>
            <a:ext cx="2057400" cy="749808"/>
          </a:xfrm>
          <a:prstGeom prst="roundRect">
            <a:avLst>
              <a:gd name="adj" fmla="val 14634"/>
            </a:avLst>
          </a:prstGeom>
          <a:solidFill>
            <a:srgbClr val="0B2335"/>
          </a:solidFill>
          <a:ln w="12700">
            <a:solidFill>
              <a:srgbClr val="1E45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96696" y="2862072"/>
            <a:ext cx="73152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97316"/>
                </a:solidFill>
              </a:rPr>
              <a:t>Fixed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96696" y="3136392"/>
            <a:ext cx="17373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870" dirty="0">
                <a:solidFill>
                  <a:srgbClr val="F8FAFC"/>
                </a:solidFill>
              </a:rPr>
              <a:t>cause, service, severity, action taxonomy</a:t>
            </a:r>
            <a:endParaRPr lang="en-US" sz="870" dirty="0"/>
          </a:p>
        </p:txBody>
      </p:sp>
      <p:sp>
        <p:nvSpPr>
          <p:cNvPr id="16" name="Shape 14"/>
          <p:cNvSpPr/>
          <p:nvPr/>
        </p:nvSpPr>
        <p:spPr>
          <a:xfrm>
            <a:off x="3200400" y="2788920"/>
            <a:ext cx="2057400" cy="749808"/>
          </a:xfrm>
          <a:prstGeom prst="roundRect">
            <a:avLst>
              <a:gd name="adj" fmla="val 14634"/>
            </a:avLst>
          </a:prstGeom>
          <a:solidFill>
            <a:srgbClr val="0B2335"/>
          </a:solidFill>
          <a:ln w="12700">
            <a:solidFill>
              <a:srgbClr val="1E45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328416" y="2862072"/>
            <a:ext cx="73152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97316"/>
                </a:solidFill>
              </a:rPr>
              <a:t>0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328416" y="3136392"/>
            <a:ext cx="17373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870" dirty="0">
                <a:solidFill>
                  <a:srgbClr val="F8FAFC"/>
                </a:solidFill>
              </a:rPr>
              <a:t>schema validation issues</a:t>
            </a:r>
            <a:endParaRPr lang="en-US" sz="870" dirty="0"/>
          </a:p>
        </p:txBody>
      </p:sp>
      <p:sp>
        <p:nvSpPr>
          <p:cNvPr id="19" name="Shape 17"/>
          <p:cNvSpPr/>
          <p:nvPr/>
        </p:nvSpPr>
        <p:spPr>
          <a:xfrm>
            <a:off x="868680" y="3813048"/>
            <a:ext cx="2057400" cy="822960"/>
          </a:xfrm>
          <a:prstGeom prst="roundRect">
            <a:avLst>
              <a:gd name="adj" fmla="val 14634"/>
            </a:avLst>
          </a:prstGeom>
          <a:solidFill>
            <a:srgbClr val="0B2335"/>
          </a:solidFill>
          <a:ln w="12700">
            <a:solidFill>
              <a:srgbClr val="1E4563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996696" y="3886200"/>
            <a:ext cx="840730" cy="3383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 fontScale="70000" lnSpcReduction="2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97316"/>
                </a:solidFill>
              </a:rPr>
              <a:t>6 Tested Baselines  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82980" y="4233672"/>
            <a:ext cx="1737360" cy="4023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 lnSpcReduction="10000"/>
          </a:bodyPr>
          <a:lstStyle/>
          <a:p>
            <a:r>
              <a:rPr lang="en-US" sz="900" dirty="0">
                <a:solidFill>
                  <a:schemeClr val="bg1"/>
                </a:solidFill>
              </a:rPr>
              <a:t>majority, rules,</a:t>
            </a:r>
            <a:br>
              <a:rPr lang="en-US" sz="900" dirty="0">
                <a:solidFill>
                  <a:schemeClr val="bg1"/>
                </a:solidFill>
              </a:rPr>
            </a:br>
            <a:r>
              <a:rPr lang="en-US" sz="900" dirty="0">
                <a:solidFill>
                  <a:schemeClr val="bg1"/>
                </a:solidFill>
              </a:rPr>
              <a:t>TF-IDF </a:t>
            </a:r>
            <a:r>
              <a:rPr lang="en-US" sz="900" dirty="0" err="1">
                <a:solidFill>
                  <a:schemeClr val="bg1"/>
                </a:solidFill>
              </a:rPr>
              <a:t>LogReg</a:t>
            </a:r>
            <a:r>
              <a:rPr lang="en-US" sz="900" dirty="0">
                <a:solidFill>
                  <a:schemeClr val="bg1"/>
                </a:solidFill>
              </a:rPr>
              <a:t>/SVM/NB,</a:t>
            </a:r>
            <a:br>
              <a:rPr lang="en-US" sz="900" dirty="0">
                <a:solidFill>
                  <a:schemeClr val="bg1"/>
                </a:solidFill>
              </a:rPr>
            </a:br>
            <a:r>
              <a:rPr lang="en-US" sz="900" dirty="0">
                <a:solidFill>
                  <a:schemeClr val="bg1"/>
                </a:solidFill>
              </a:rPr>
              <a:t>Char-SVM</a:t>
            </a:r>
            <a:endParaRPr lang="en-US" sz="870" dirty="0">
              <a:solidFill>
                <a:schemeClr val="bg1"/>
              </a:solidFill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200400" y="3813048"/>
            <a:ext cx="2057400" cy="822960"/>
          </a:xfrm>
          <a:prstGeom prst="roundRect">
            <a:avLst>
              <a:gd name="adj" fmla="val 14634"/>
            </a:avLst>
          </a:prstGeom>
          <a:solidFill>
            <a:srgbClr val="0B2335"/>
          </a:solidFill>
          <a:ln w="12700">
            <a:solidFill>
              <a:srgbClr val="1E45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328415" y="3886200"/>
            <a:ext cx="881275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 fontScale="62500" lnSpcReduction="2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97316"/>
                </a:solidFill>
              </a:rPr>
              <a:t>EDA + metrics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3314700" y="4202790"/>
            <a:ext cx="17373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870" dirty="0">
                <a:solidFill>
                  <a:srgbClr val="F8FAFC"/>
                </a:solidFill>
              </a:rPr>
              <a:t>charts, confusion matrix, error analysis</a:t>
            </a:r>
            <a:endParaRPr lang="en-US" sz="870" dirty="0"/>
          </a:p>
        </p:txBody>
      </p:sp>
      <p:sp>
        <p:nvSpPr>
          <p:cNvPr id="25" name="Shape 23"/>
          <p:cNvSpPr/>
          <p:nvPr/>
        </p:nvSpPr>
        <p:spPr>
          <a:xfrm>
            <a:off x="5989320" y="1005840"/>
            <a:ext cx="5532120" cy="2468880"/>
          </a:xfrm>
          <a:prstGeom prst="roundRect">
            <a:avLst>
              <a:gd name="adj" fmla="val 4444"/>
            </a:avLst>
          </a:prstGeom>
          <a:solidFill>
            <a:srgbClr val="10263A"/>
          </a:solidFill>
          <a:ln w="12700">
            <a:solidFill>
              <a:srgbClr val="2445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263640" y="1234440"/>
            <a:ext cx="365760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7DD3FC"/>
                </a:solidFill>
              </a:rPr>
              <a:t>Novelty claim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263640" y="1627632"/>
            <a:ext cx="489204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lang="en-US" sz="1120" dirty="0">
                <a:solidFill>
                  <a:srgbClr val="F8FAFC"/>
                </a:solidFill>
              </a:rPr>
              <a:t>Not only anomaly detection: the system returns operator-ready triage decisions.</a:t>
            </a:r>
            <a:endParaRPr lang="en-US" sz="1120" dirty="0"/>
          </a:p>
          <a:p>
            <a:r>
              <a:rPr lang="en-US" sz="1120" dirty="0">
                <a:solidFill>
                  <a:srgbClr val="F8FAFC"/>
                </a:solidFill>
              </a:rPr>
              <a:t>Predicts cause + affected service + severity + action + supporting evidence lines.</a:t>
            </a:r>
            <a:endParaRPr lang="en-US" sz="1120" dirty="0"/>
          </a:p>
          <a:p>
            <a:r>
              <a:rPr lang="en-US" sz="1120" dirty="0">
                <a:solidFill>
                  <a:srgbClr val="F8FAFC"/>
                </a:solidFill>
              </a:rPr>
              <a:t>Synthetic benchmark is explainable and measurable end-to-end.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5989320" y="3703320"/>
            <a:ext cx="5532120" cy="2651760"/>
          </a:xfrm>
          <a:prstGeom prst="roundRect">
            <a:avLst>
              <a:gd name="adj" fmla="val 4138"/>
            </a:avLst>
          </a:prstGeom>
          <a:solidFill>
            <a:srgbClr val="0E1B2A"/>
          </a:solidFill>
          <a:ln w="12700">
            <a:solidFill>
              <a:srgbClr val="2445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263640" y="3913632"/>
            <a:ext cx="457200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7DD3FC"/>
                </a:solidFill>
              </a:rPr>
              <a:t>Anomaly detection vs. LogTriage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263640" y="4343400"/>
            <a:ext cx="2240280" cy="1417320"/>
          </a:xfrm>
          <a:prstGeom prst="roundRect">
            <a:avLst>
              <a:gd name="adj" fmla="val 7742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537960" y="4526280"/>
            <a:ext cx="169164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94A3B8"/>
                </a:solidFill>
              </a:rPr>
              <a:t>Traditional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446520" y="4892040"/>
            <a:ext cx="187452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8FAFC"/>
                </a:solidFill>
              </a:rPr>
              <a:t>Normal / abnormal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8FAFC"/>
                </a:solidFill>
              </a:rPr>
              <a:t>Limited operator context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32520" y="4718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97316"/>
                </a:solidFill>
              </a:rPr>
              <a:t>→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9372600" y="4343400"/>
            <a:ext cx="1874520" cy="1417320"/>
          </a:xfrm>
          <a:prstGeom prst="roundRect">
            <a:avLst>
              <a:gd name="adj" fmla="val 7742"/>
            </a:avLst>
          </a:prstGeom>
          <a:solidFill>
            <a:srgbClr val="07331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9537192" y="4526280"/>
            <a:ext cx="155448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C55E"/>
                </a:solidFill>
              </a:rPr>
              <a:t>LogTriage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9528048" y="4892040"/>
            <a:ext cx="15544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F8FAFC"/>
                </a:solidFill>
              </a:rPr>
              <a:t>Cause + service + severity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8FAFC"/>
                </a:solidFill>
              </a:rPr>
              <a:t>Action + evidence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02920" y="64465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</a:rPr>
              <a:t>LogTriage - NLP Course Final Presentation</a:t>
            </a:r>
            <a:endParaRPr lang="en-US" sz="850" dirty="0"/>
          </a:p>
        </p:txBody>
      </p:sp>
      <p:sp>
        <p:nvSpPr>
          <p:cNvPr id="3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DD3FC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2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Fixed label taxonomy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Controlled outputs enable fair, measurable evaluation.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0884707"/>
              </p:ext>
            </p:extLst>
          </p:nvPr>
        </p:nvGraphicFramePr>
        <p:xfrm>
          <a:off x="594360" y="1417320"/>
          <a:ext cx="109728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E8EEF8"/>
                          </a:solidFill>
                        </a:defRPr>
                      </a:pPr>
                      <a:r>
                        <a:rPr dirty="0">
                          <a:solidFill>
                            <a:schemeClr val="tx1"/>
                          </a:solidFill>
                        </a:rPr>
                        <a:t>Label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E8EEF8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Taxonomy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E8EEF8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In dataset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E8EEF8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Examples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8EEF8"/>
                          </a:solidFill>
                        </a:defRPr>
                      </a:pPr>
                      <a:r>
                        <a:rPr dirty="0">
                          <a:solidFill>
                            <a:schemeClr val="tx1"/>
                          </a:solidFill>
                        </a:rPr>
                        <a:t>Failure cause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8EEF8"/>
                          </a:solidFill>
                        </a:defRPr>
                      </a:pPr>
                      <a:r>
                        <a:rPr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8EEF8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8EEF8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payment_gateway_timeout, database_query_failure, message_queue_backlog, 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8EEF8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Affected 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8EEF8"/>
                          </a:solidFill>
                        </a:defRPr>
                      </a:pPr>
                      <a:r>
                        <a:rPr dirty="0">
                          <a:solidFill>
                            <a:schemeClr val="tx1"/>
                          </a:solidFill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8EEF8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8EEF8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payment-service, queue-service, database-service, gateway-service, 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8EEF8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Severity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8EEF8"/>
                          </a:solidFill>
                        </a:defRPr>
                      </a:pPr>
                      <a:r>
                        <a:rPr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8EEF8"/>
                          </a:solidFill>
                        </a:defRPr>
                      </a:pPr>
                      <a:r>
                        <a:rPr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8EEF8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low, medium, high, critical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8EEF8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Recommended 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8EEF8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8EEF8"/>
                          </a:solidFill>
                        </a:defRPr>
                      </a:pPr>
                      <a:r>
                        <a:rPr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8EEF8"/>
                          </a:solidFill>
                        </a:defRPr>
                      </a:pPr>
                      <a:r>
                        <a:rPr dirty="0" err="1">
                          <a:solidFill>
                            <a:schemeClr val="tx1"/>
                          </a:solidFill>
                        </a:rPr>
                        <a:t>scale_queue_consumers</a:t>
                      </a:r>
                      <a:r>
                        <a:rPr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dirty="0" err="1">
                          <a:solidFill>
                            <a:schemeClr val="tx1"/>
                          </a:solidFill>
                        </a:rPr>
                        <a:t>rollback_deployment</a:t>
                      </a:r>
                      <a:r>
                        <a:rPr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dirty="0" err="1">
                          <a:solidFill>
                            <a:schemeClr val="tx1"/>
                          </a:solidFill>
                        </a:rPr>
                        <a:t>check_database_query</a:t>
                      </a:r>
                      <a:r>
                        <a:rPr dirty="0">
                          <a:solidFill>
                            <a:schemeClr val="tx1"/>
                          </a:solidFill>
                        </a:rPr>
                        <a:t>, 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8EEF8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Evidence 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8EEF8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1–8 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8EEF8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avg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8EEF8"/>
                          </a:solidFill>
                        </a:defRPr>
                      </a:pPr>
                      <a:r>
                        <a:rPr dirty="0">
                          <a:solidFill>
                            <a:schemeClr val="tx1"/>
                          </a:solidFill>
                        </a:rPr>
                        <a:t>1-based log line indices supporting cause and action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9788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7DD3FC"/>
                </a:solidFill>
              </a:defRPr>
            </a:pPr>
            <a:r>
              <a:t>Cause and action are paired in the generator; severity is intentionally harder because it depends on impact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94A3B8"/>
                </a:solidFill>
              </a:defRPr>
            </a:pPr>
            <a:r>
              <a:t>LogTriage - NLP Course Final Presentation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94A3B8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2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3">
            <a:extLst>
              <a:ext uri="{FF2B5EF4-FFF2-40B4-BE49-F238E27FC236}">
                <a16:creationId xmlns:a16="http://schemas.microsoft.com/office/drawing/2014/main" id="{00377BD1-5ABA-1C1F-9478-A1A1D0DAA48A}"/>
              </a:ext>
            </a:extLst>
          </p:cNvPr>
          <p:cNvSpPr/>
          <p:nvPr/>
        </p:nvSpPr>
        <p:spPr>
          <a:xfrm>
            <a:off x="614949" y="933856"/>
            <a:ext cx="11136064" cy="5544766"/>
          </a:xfrm>
          <a:prstGeom prst="roundRect">
            <a:avLst>
              <a:gd name="adj" fmla="val 2143"/>
            </a:avLst>
          </a:prstGeom>
          <a:solidFill>
            <a:srgbClr val="0E1B2A"/>
          </a:solidFill>
          <a:ln w="12700">
            <a:solidFill>
              <a:srgbClr val="2445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143000" y="240000"/>
            <a:ext cx="9500000" cy="4200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900" b="1" dirty="0">
                <a:solidFill>
                  <a:srgbClr val="FFFFFF"/>
                </a:solidFill>
              </a:rPr>
              <a:t>Related work: gaps vs. </a:t>
            </a:r>
            <a:r>
              <a:rPr sz="2900" b="1" dirty="0" err="1">
                <a:solidFill>
                  <a:srgbClr val="FFFFFF"/>
                </a:solidFill>
              </a:rPr>
              <a:t>LogTriage</a:t>
            </a:r>
            <a:endParaRPr sz="2900" b="1" dirty="0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60000" y="705000"/>
            <a:ext cx="10200000" cy="26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200">
                <a:solidFill>
                  <a:srgbClr val="B4BECD"/>
                </a:solidFill>
              </a:rPr>
              <a:t>Existing datasets are strong RCA/anomaly references; the gap is operator-ready text triage with action + evidence supervision.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1143000"/>
            <a:ext cx="1028700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1225296"/>
            <a:ext cx="9966960" cy="393192"/>
          </a:xfrm>
          <a:prstGeom prst="rect">
            <a:avLst/>
          </a:prstGeom>
          <a:noFill/>
        </p:spPr>
        <p:txBody>
          <a:bodyPr wrap="square" lIns="64008" tIns="27432" rIns="64008" bIns="27432" anchor="ctr">
            <a:noAutofit/>
          </a:bodyPr>
          <a:lstStyle/>
          <a:p>
            <a:pPr algn="l">
              <a:defRPr sz="1150" b="1">
                <a:solidFill>
                  <a:srgbClr val="0C1626"/>
                </a:solidFill>
              </a:defRPr>
            </a:pPr>
            <a:r>
              <a:t>Careful novelty claim: RCA/log anomaly detection is not new. LogTriage adds a controlled synthetic NLP benchmark for cause + service + severity + action + evidence lines.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1182098"/>
              </p:ext>
            </p:extLst>
          </p:nvPr>
        </p:nvGraphicFramePr>
        <p:xfrm>
          <a:off x="897147" y="1920239"/>
          <a:ext cx="10532853" cy="34540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46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846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84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751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5521">
                <a:tc>
                  <a:txBody>
                    <a:bodyPr/>
                    <a:lstStyle/>
                    <a:p>
                      <a:pPr algn="l"/>
                      <a:r>
                        <a:rPr sz="740" b="1">
                          <a:solidFill>
                            <a:srgbClr val="FFFFFF"/>
                          </a:solidFill>
                          <a:latin typeface="Aptos"/>
                        </a:rPr>
                        <a:t>Project / dataset</a:t>
                      </a:r>
                    </a:p>
                  </a:txBody>
                  <a:tcPr marL="38100" marR="38100" marT="19050" marB="19050">
                    <a:solidFill>
                      <a:srgbClr val="0C16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 b="1">
                          <a:solidFill>
                            <a:srgbClr val="FFFFFF"/>
                          </a:solidFill>
                          <a:latin typeface="Aptos"/>
                        </a:rPr>
                        <a:t>Main focus</a:t>
                      </a:r>
                    </a:p>
                  </a:txBody>
                  <a:tcPr marL="38100" marR="38100" marT="19050" marB="19050">
                    <a:solidFill>
                      <a:srgbClr val="0C16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 b="1">
                          <a:solidFill>
                            <a:srgbClr val="FFFFFF"/>
                          </a:solidFill>
                          <a:latin typeface="Aptos"/>
                        </a:rPr>
                        <a:t>What it gives</a:t>
                      </a:r>
                    </a:p>
                  </a:txBody>
                  <a:tcPr marL="38100" marR="38100" marT="19050" marB="19050">
                    <a:solidFill>
                      <a:srgbClr val="0C16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 b="1">
                          <a:solidFill>
                            <a:srgbClr val="FFFFFF"/>
                          </a:solidFill>
                          <a:latin typeface="Aptos"/>
                        </a:rPr>
                        <a:t>Gap vs. LogTriage</a:t>
                      </a:r>
                    </a:p>
                  </a:txBody>
                  <a:tcPr marL="38100" marR="38100" marT="19050" marB="19050">
                    <a:solidFill>
                      <a:srgbClr val="0C16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6416">
                <a:tc>
                  <a:txBody>
                    <a:bodyPr/>
                    <a:lstStyle/>
                    <a:p>
                      <a:pPr algn="l"/>
                      <a:r>
                        <a:rPr sz="710" b="1">
                          <a:solidFill>
                            <a:srgbClr val="161C24"/>
                          </a:solidFill>
                          <a:latin typeface="Aptos"/>
                        </a:rPr>
                        <a:t>RCAEval</a:t>
                      </a:r>
                    </a:p>
                  </a:txBody>
                  <a:tcPr marL="38100" marR="3810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10" b="0">
                          <a:solidFill>
                            <a:srgbClr val="161C24"/>
                          </a:solidFill>
                          <a:latin typeface="Aptos"/>
                        </a:rPr>
                        <a:t>Microservice RCA</a:t>
                      </a:r>
                    </a:p>
                  </a:txBody>
                  <a:tcPr marL="38100" marR="3810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10" b="0">
                          <a:solidFill>
                            <a:srgbClr val="161C24"/>
                          </a:solidFill>
                          <a:latin typeface="Aptos"/>
                        </a:rPr>
                        <a:t>735 injected failure cases from Online Boutique, Sock Shop and Train Ticket; includes metrics, logs, traces and annotated root-cause service / indicator.</a:t>
                      </a:r>
                    </a:p>
                  </a:txBody>
                  <a:tcPr marL="38100" marR="3810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10" b="0">
                          <a:solidFill>
                            <a:srgbClr val="161C24"/>
                          </a:solidFill>
                          <a:latin typeface="Aptos"/>
                        </a:rPr>
                        <a:t>Strong RCA benchmark, but output stops mainly at root-cause localization. It does not provide fixed action labels, severity, or line-level evidence as operator-ready JSON.</a:t>
                      </a:r>
                    </a:p>
                  </a:txBody>
                  <a:tcPr marL="38100" marR="38100" marT="19050" marB="1905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6416">
                <a:tc>
                  <a:txBody>
                    <a:bodyPr/>
                    <a:lstStyle/>
                    <a:p>
                      <a:pPr algn="l"/>
                      <a:r>
                        <a:rPr sz="710" b="1">
                          <a:solidFill>
                            <a:srgbClr val="161C24"/>
                          </a:solidFill>
                          <a:latin typeface="Aptos"/>
                        </a:rPr>
                        <a:t>LO2</a:t>
                      </a:r>
                    </a:p>
                  </a:txBody>
                  <a:tcPr marL="38100" marR="38100" marT="19050" marB="1905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10" b="0">
                          <a:solidFill>
                            <a:srgbClr val="161C24"/>
                          </a:solidFill>
                          <a:latin typeface="Aptos"/>
                        </a:rPr>
                        <a:t>API anomaly / failure prediction</a:t>
                      </a:r>
                    </a:p>
                  </a:txBody>
                  <a:tcPr marL="38100" marR="38100" marT="19050" marB="1905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10" b="0">
                          <a:solidFill>
                            <a:srgbClr val="161C24"/>
                          </a:solidFill>
                          <a:latin typeface="Aptos"/>
                        </a:rPr>
                        <a:t>Production microservice logs + metrics connected to API errors; useful for realistic failure/anomaly patterns and API-level symptoms.</a:t>
                      </a:r>
                    </a:p>
                  </a:txBody>
                  <a:tcPr marL="38100" marR="38100" marT="19050" marB="1905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10" b="0">
                          <a:solidFill>
                            <a:srgbClr val="161C24"/>
                          </a:solidFill>
                          <a:latin typeface="Aptos"/>
                        </a:rPr>
                        <a:t>Less focused on what the operator should do next. It lacks a fixed recommended-action taxonomy and traceable evidence-line supervision.</a:t>
                      </a:r>
                    </a:p>
                  </a:txBody>
                  <a:tcPr marL="38100" marR="38100" marT="19050" marB="19050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6416">
                <a:tc>
                  <a:txBody>
                    <a:bodyPr/>
                    <a:lstStyle/>
                    <a:p>
                      <a:pPr algn="l"/>
                      <a:r>
                        <a:rPr sz="710" b="1">
                          <a:solidFill>
                            <a:srgbClr val="161C24"/>
                          </a:solidFill>
                          <a:latin typeface="Aptos"/>
                        </a:rPr>
                        <a:t>AnoMod</a:t>
                      </a:r>
                    </a:p>
                  </a:txBody>
                  <a:tcPr marL="38100" marR="3810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10" b="0" dirty="0">
                          <a:solidFill>
                            <a:srgbClr val="161C24"/>
                          </a:solidFill>
                          <a:latin typeface="Aptos"/>
                        </a:rPr>
                        <a:t>Anomaly + RCA</a:t>
                      </a:r>
                    </a:p>
                  </a:txBody>
                  <a:tcPr marL="38100" marR="3810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10" b="0">
                          <a:solidFill>
                            <a:srgbClr val="161C24"/>
                          </a:solidFill>
                          <a:latin typeface="Aptos"/>
                        </a:rPr>
                        <a:t>Multi-modal microservice dataset with logs, metrics, traces, API responses and code coverage; covers performance, service, DB and code-level faults.</a:t>
                      </a:r>
                    </a:p>
                  </a:txBody>
                  <a:tcPr marL="38100" marR="3810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10" b="0">
                          <a:solidFill>
                            <a:srgbClr val="161C24"/>
                          </a:solidFill>
                          <a:latin typeface="Aptos"/>
                        </a:rPr>
                        <a:t>Broader and multi-modal. LogTriage is narrower: text-log NLP triage for e-commerce sessions with cause + service + severity + action + evidence.</a:t>
                      </a:r>
                    </a:p>
                  </a:txBody>
                  <a:tcPr marL="38100" marR="38100" marT="19050" marB="1905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6416">
                <a:tc>
                  <a:txBody>
                    <a:bodyPr/>
                    <a:lstStyle/>
                    <a:p>
                      <a:pPr algn="l"/>
                      <a:r>
                        <a:rPr sz="710" b="1">
                          <a:solidFill>
                            <a:srgbClr val="161C24"/>
                          </a:solidFill>
                          <a:latin typeface="Aptos"/>
                        </a:rPr>
                        <a:t>GAIA / AIOps</a:t>
                      </a:r>
                    </a:p>
                  </a:txBody>
                  <a:tcPr marL="38100" marR="38100" marT="19050" marB="1905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10" b="0">
                          <a:solidFill>
                            <a:srgbClr val="161C24"/>
                          </a:solidFill>
                          <a:latin typeface="Aptos"/>
                        </a:rPr>
                        <a:t>AIOps anomaly / fault localization</a:t>
                      </a:r>
                    </a:p>
                  </a:txBody>
                  <a:tcPr marL="38100" marR="38100" marT="19050" marB="1905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10" b="0">
                          <a:solidFill>
                            <a:srgbClr val="161C24"/>
                          </a:solidFill>
                          <a:latin typeface="Aptos"/>
                        </a:rPr>
                        <a:t>Open AIOps data for anomaly detection, log analysis and fault localization; useful for operational patterns and evaluation inspiration.</a:t>
                      </a:r>
                    </a:p>
                  </a:txBody>
                  <a:tcPr marL="38100" marR="38100" marT="19050" marB="1905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10" b="0">
                          <a:solidFill>
                            <a:srgbClr val="161C24"/>
                          </a:solidFill>
                          <a:latin typeface="Aptos"/>
                        </a:rPr>
                        <a:t>General AIOps source data, not a controlled benchmark for operator decision JSON or action/evidence labels.</a:t>
                      </a:r>
                    </a:p>
                  </a:txBody>
                  <a:tcPr marL="38100" marR="38100" marT="19050" marB="19050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6416">
                <a:tc>
                  <a:txBody>
                    <a:bodyPr/>
                    <a:lstStyle/>
                    <a:p>
                      <a:pPr algn="l"/>
                      <a:r>
                        <a:rPr sz="710" b="1">
                          <a:solidFill>
                            <a:srgbClr val="161C24"/>
                          </a:solidFill>
                          <a:latin typeface="Aptos"/>
                        </a:rPr>
                        <a:t>LogHub</a:t>
                      </a:r>
                    </a:p>
                  </a:txBody>
                  <a:tcPr marL="38100" marR="3810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10" b="0">
                          <a:solidFill>
                            <a:srgbClr val="161C24"/>
                          </a:solidFill>
                          <a:latin typeface="Aptos"/>
                        </a:rPr>
                        <a:t>Real system logs</a:t>
                      </a:r>
                    </a:p>
                  </a:txBody>
                  <a:tcPr marL="38100" marR="3810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10" b="0">
                          <a:solidFill>
                            <a:srgbClr val="161C24"/>
                          </a:solidFill>
                          <a:latin typeface="Aptos"/>
                        </a:rPr>
                        <a:t>Large public collection of real logs from many systems; useful for realistic log wording, parsing, templates and anomaly baselines.</a:t>
                      </a:r>
                    </a:p>
                  </a:txBody>
                  <a:tcPr marL="38100" marR="3810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10" b="0">
                          <a:solidFill>
                            <a:srgbClr val="161C24"/>
                          </a:solidFill>
                          <a:latin typeface="Aptos"/>
                        </a:rPr>
                        <a:t>Usually lacks rich incident labels: root cause, severity, recommended action and exact supporting evidence lines.</a:t>
                      </a:r>
                    </a:p>
                  </a:txBody>
                  <a:tcPr marL="38100" marR="38100" marT="19050" marB="1905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6416">
                <a:tc>
                  <a:txBody>
                    <a:bodyPr/>
                    <a:lstStyle/>
                    <a:p>
                      <a:pPr algn="l"/>
                      <a:r>
                        <a:rPr sz="710" b="1">
                          <a:solidFill>
                            <a:srgbClr val="161C24"/>
                          </a:solidFill>
                          <a:latin typeface="Aptos"/>
                        </a:rPr>
                        <a:t>LogSage / agents</a:t>
                      </a:r>
                    </a:p>
                  </a:txBody>
                  <a:tcPr marL="38100" marR="38100" marT="19050" marB="1905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10" b="0">
                          <a:solidFill>
                            <a:srgbClr val="161C24"/>
                          </a:solidFill>
                          <a:latin typeface="Aptos"/>
                        </a:rPr>
                        <a:t>LLM RCA + remediation</a:t>
                      </a:r>
                    </a:p>
                  </a:txBody>
                  <a:tcPr marL="38100" marR="38100" marT="19050" marB="1905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10" b="0">
                          <a:solidFill>
                            <a:srgbClr val="161C24"/>
                          </a:solidFill>
                          <a:latin typeface="Aptos"/>
                        </a:rPr>
                        <a:t>LLM-based diagnostic/remediation framework over raw logs; conceptually close because it connects diagnosis with possible resolution.</a:t>
                      </a:r>
                    </a:p>
                  </a:txBody>
                  <a:tcPr marL="38100" marR="38100" marT="19050" marB="1905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10" b="0" dirty="0">
                          <a:solidFill>
                            <a:srgbClr val="161C24"/>
                          </a:solidFill>
                          <a:latin typeface="Aptos"/>
                        </a:rPr>
                        <a:t>Different domain and agent framework. </a:t>
                      </a:r>
                      <a:r>
                        <a:rPr sz="710" b="0" dirty="0" err="1">
                          <a:solidFill>
                            <a:srgbClr val="161C24"/>
                          </a:solidFill>
                          <a:latin typeface="Aptos"/>
                        </a:rPr>
                        <a:t>LogTriage</a:t>
                      </a:r>
                      <a:r>
                        <a:rPr sz="710" b="0" dirty="0">
                          <a:solidFill>
                            <a:srgbClr val="161C24"/>
                          </a:solidFill>
                          <a:latin typeface="Aptos"/>
                        </a:rPr>
                        <a:t> is a supervised, measurable NLP benchmark with fixed taxonomies and synthetic controlled data.</a:t>
                      </a:r>
                    </a:p>
                  </a:txBody>
                  <a:tcPr marL="38100" marR="38100" marT="19050" marB="19050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1143000" y="5669280"/>
            <a:ext cx="10287000" cy="594360"/>
          </a:xfrm>
          <a:prstGeom prst="roundRect">
            <a:avLst/>
          </a:prstGeom>
          <a:solidFill>
            <a:srgbClr val="E8F5FF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98448" y="5769864"/>
            <a:ext cx="9966960" cy="320040"/>
          </a:xfrm>
          <a:prstGeom prst="rect">
            <a:avLst/>
          </a:prstGeom>
          <a:noFill/>
        </p:spPr>
        <p:txBody>
          <a:bodyPr wrap="square" lIns="64008" tIns="27432" rIns="64008" bIns="27432" anchor="ctr">
            <a:noAutofit/>
          </a:bodyPr>
          <a:lstStyle/>
          <a:p>
            <a:r>
              <a:rPr sz="1200"/>
              <a:t>Takeaway: existing work gives realistic RCA/anomaly patterns; LogTriage fills the gap by turning text logs into measurable operator triage: cause + service + severity + action + evidence lines.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2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hape 3">
            <a:extLst>
              <a:ext uri="{FF2B5EF4-FFF2-40B4-BE49-F238E27FC236}">
                <a16:creationId xmlns:a16="http://schemas.microsoft.com/office/drawing/2014/main" id="{99B682E3-F77C-4990-3610-6E145D7D81F1}"/>
              </a:ext>
            </a:extLst>
          </p:cNvPr>
          <p:cNvSpPr/>
          <p:nvPr/>
        </p:nvSpPr>
        <p:spPr>
          <a:xfrm>
            <a:off x="594359" y="996696"/>
            <a:ext cx="10962101" cy="5462470"/>
          </a:xfrm>
          <a:prstGeom prst="roundRect">
            <a:avLst>
              <a:gd name="adj" fmla="val 2143"/>
            </a:avLst>
          </a:prstGeom>
          <a:solidFill>
            <a:srgbClr val="0E1B2A"/>
          </a:solidFill>
          <a:ln w="12700">
            <a:solidFill>
              <a:srgbClr val="24455F"/>
            </a:solidFill>
            <a:prstDash val="solid"/>
          </a:ln>
        </p:spPr>
        <p:txBody>
          <a:bodyPr/>
          <a:lstStyle/>
          <a:p>
            <a:endParaRPr lang="en-US">
              <a:solidFill>
                <a:schemeClr val="bg2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43000" y="228600"/>
            <a:ext cx="8016938" cy="461665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Synthetic log generation: uniqueness and quality controls</a:t>
            </a:r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1161288" y="713232"/>
            <a:ext cx="10241280" cy="292608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>
              <a:defRPr sz="1050">
                <a:solidFill>
                  <a:srgbClr val="475569"/>
                </a:solidFill>
              </a:defRPr>
            </a:pPr>
            <a:r>
              <a:t>Main challenge: generate logs that are realistic, diverse, and challenging without leaking labels.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1234440"/>
            <a:ext cx="1417320" cy="566928"/>
          </a:xfrm>
          <a:prstGeom prst="roundRect">
            <a:avLst/>
          </a:prstGeom>
          <a:solidFill>
            <a:srgbClr val="EF6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" y="1380744"/>
            <a:ext cx="1325880" cy="228600"/>
          </a:xfrm>
          <a:prstGeom prst="rect">
            <a:avLst/>
          </a:prstGeom>
          <a:noFill/>
        </p:spPr>
        <p:txBody>
          <a:bodyPr wrap="square" lIns="64008" tIns="27432" rIns="64008" bIns="27432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Attributes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6896" y="1362456"/>
            <a:ext cx="320040" cy="274320"/>
          </a:xfrm>
          <a:prstGeom prst="rect">
            <a:avLst/>
          </a:prstGeom>
          <a:noFill/>
          <a:ln>
            <a:noFill/>
          </a:ln>
        </p:spPr>
        <p:txBody>
          <a:bodyPr wrap="square" lIns="64008" tIns="27432" rIns="64008" bIns="27432" anchor="t">
            <a:noAutofit/>
          </a:bodyPr>
          <a:lstStyle/>
          <a:p>
            <a:pPr algn="ctr">
              <a:defRPr sz="1900" b="1">
                <a:solidFill>
                  <a:srgbClr val="0C1626"/>
                </a:solidFill>
              </a:defRPr>
            </a:pPr>
            <a:r>
              <a:rPr lang="en-US" dirty="0">
                <a:solidFill>
                  <a:schemeClr val="bg2"/>
                </a:solidFill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44368" y="1234440"/>
            <a:ext cx="1417320" cy="566928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990088" y="1380744"/>
            <a:ext cx="1325880" cy="228600"/>
          </a:xfrm>
          <a:prstGeom prst="rect">
            <a:avLst/>
          </a:prstGeom>
          <a:noFill/>
        </p:spPr>
        <p:txBody>
          <a:bodyPr wrap="square" lIns="64008" tIns="27432" rIns="64008" bIns="27432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Prompt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98264" y="1362456"/>
            <a:ext cx="320040" cy="274320"/>
          </a:xfrm>
          <a:prstGeom prst="rect">
            <a:avLst/>
          </a:prstGeom>
          <a:noFill/>
        </p:spPr>
        <p:txBody>
          <a:bodyPr wrap="square" lIns="64008" tIns="27432" rIns="64008" bIns="27432" anchor="t">
            <a:noAutofit/>
          </a:bodyPr>
          <a:lstStyle/>
          <a:p>
            <a:pPr algn="ctr">
              <a:defRPr sz="1900" b="1">
                <a:solidFill>
                  <a:srgbClr val="0C1626"/>
                </a:solidFill>
              </a:defRPr>
            </a:pPr>
            <a:r>
              <a:rPr dirty="0">
                <a:solidFill>
                  <a:schemeClr val="bg2"/>
                </a:solidFill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45736" y="1234440"/>
            <a:ext cx="1417320" cy="566928"/>
          </a:xfrm>
          <a:prstGeom prst="roundRect">
            <a:avLst/>
          </a:prstGeom>
          <a:solidFill>
            <a:srgbClr val="1682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91456" y="1380744"/>
            <a:ext cx="1325880" cy="228600"/>
          </a:xfrm>
          <a:prstGeom prst="rect">
            <a:avLst/>
          </a:prstGeom>
          <a:noFill/>
        </p:spPr>
        <p:txBody>
          <a:bodyPr wrap="square" lIns="64008" tIns="27432" rIns="64008" bIns="27432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LLM log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9632" y="1362456"/>
            <a:ext cx="320040" cy="274320"/>
          </a:xfrm>
          <a:prstGeom prst="rect">
            <a:avLst/>
          </a:prstGeom>
          <a:noFill/>
        </p:spPr>
        <p:txBody>
          <a:bodyPr wrap="square" lIns="64008" tIns="27432" rIns="64008" bIns="27432" anchor="t">
            <a:noAutofit/>
          </a:bodyPr>
          <a:lstStyle/>
          <a:p>
            <a:pPr algn="ctr">
              <a:defRPr sz="1900" b="1">
                <a:solidFill>
                  <a:srgbClr val="0C1626"/>
                </a:solidFill>
              </a:defRPr>
            </a:pPr>
            <a:r>
              <a:rPr dirty="0">
                <a:solidFill>
                  <a:schemeClr val="bg2"/>
                </a:solidFill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47104" y="1234440"/>
            <a:ext cx="1417320" cy="566928"/>
          </a:xfrm>
          <a:prstGeom prst="round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92824" y="1380744"/>
            <a:ext cx="1325880" cy="228600"/>
          </a:xfrm>
          <a:prstGeom prst="rect">
            <a:avLst/>
          </a:prstGeom>
          <a:noFill/>
        </p:spPr>
        <p:txBody>
          <a:bodyPr wrap="square" lIns="64008" tIns="27432" rIns="64008" bIns="27432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Validation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1362456"/>
            <a:ext cx="320040" cy="274320"/>
          </a:xfrm>
          <a:prstGeom prst="rect">
            <a:avLst/>
          </a:prstGeom>
          <a:noFill/>
        </p:spPr>
        <p:txBody>
          <a:bodyPr wrap="square" lIns="64008" tIns="27432" rIns="64008" bIns="27432" anchor="t">
            <a:noAutofit/>
          </a:bodyPr>
          <a:lstStyle/>
          <a:p>
            <a:pPr algn="ctr">
              <a:defRPr sz="1900" b="1">
                <a:solidFill>
                  <a:srgbClr val="0C1626"/>
                </a:solidFill>
              </a:defRPr>
            </a:pPr>
            <a:r>
              <a:rPr dirty="0">
                <a:solidFill>
                  <a:schemeClr val="bg2"/>
                </a:solidFill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48472" y="1234440"/>
            <a:ext cx="1417320" cy="566928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FF0000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394192" y="1380744"/>
            <a:ext cx="1325880" cy="228600"/>
          </a:xfrm>
          <a:prstGeom prst="rect">
            <a:avLst/>
          </a:prstGeom>
          <a:noFill/>
        </p:spPr>
        <p:txBody>
          <a:bodyPr wrap="square" lIns="64008" tIns="27432" rIns="64008" bIns="27432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Dataset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1943207"/>
            <a:ext cx="3246120" cy="194299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1333468" y="2052407"/>
            <a:ext cx="2982500" cy="333649"/>
          </a:xfrm>
          <a:prstGeom prst="roundRect">
            <a:avLst/>
          </a:prstGeom>
          <a:solidFill>
            <a:srgbClr val="EF6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216152" y="2139696"/>
            <a:ext cx="3099816" cy="228600"/>
          </a:xfrm>
          <a:prstGeom prst="rect">
            <a:avLst/>
          </a:prstGeom>
          <a:noFill/>
        </p:spPr>
        <p:txBody>
          <a:bodyPr wrap="square" lIns="64008" tIns="27432" rIns="64008" bIns="27432" anchor="t">
            <a:no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1. Avoid label leakage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2728" y="2560320"/>
            <a:ext cx="3026664" cy="566309"/>
          </a:xfrm>
          <a:prstGeom prst="rect">
            <a:avLst/>
          </a:prstGeom>
          <a:noFill/>
        </p:spPr>
        <p:txBody>
          <a:bodyPr wrap="square" lIns="73152" tIns="36576" rIns="73152">
            <a:spAutoFit/>
          </a:bodyPr>
          <a:lstStyle/>
          <a:p>
            <a:pPr>
              <a:spcAft>
                <a:spcPts val="300"/>
              </a:spcAft>
              <a:defRPr sz="880">
                <a:solidFill>
                  <a:srgbClr val="0F172A"/>
                </a:solidFill>
              </a:defRPr>
            </a:pPr>
            <a:r>
              <a:rPr dirty="0"/>
              <a:t>Do not include exact class names as obvious text</a:t>
            </a:r>
          </a:p>
          <a:p>
            <a:pPr>
              <a:spcAft>
                <a:spcPts val="300"/>
              </a:spcAft>
              <a:defRPr sz="880">
                <a:solidFill>
                  <a:srgbClr val="0F172A"/>
                </a:solidFill>
              </a:defRPr>
            </a:pPr>
            <a:r>
              <a:rPr dirty="0"/>
              <a:t>Use paraphrases and indirect symptoms</a:t>
            </a:r>
          </a:p>
          <a:p>
            <a:pPr>
              <a:spcAft>
                <a:spcPts val="300"/>
              </a:spcAft>
              <a:defRPr sz="880">
                <a:solidFill>
                  <a:srgbClr val="0F172A"/>
                </a:solidFill>
              </a:defRPr>
            </a:pPr>
            <a:r>
              <a:rPr dirty="0"/>
              <a:t>Check shortcut keywords and repeated label phrases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26280" y="1943207"/>
            <a:ext cx="3246120" cy="194299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4680172" y="2082599"/>
            <a:ext cx="2982500" cy="333649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99432" y="2139696"/>
            <a:ext cx="3099816" cy="228600"/>
          </a:xfrm>
          <a:prstGeom prst="rect">
            <a:avLst/>
          </a:prstGeom>
          <a:noFill/>
        </p:spPr>
        <p:txBody>
          <a:bodyPr wrap="square" lIns="64008" tIns="27432" rIns="64008" bIns="27432" anchor="t">
            <a:no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2. Preserve realism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36008" y="2516832"/>
            <a:ext cx="3026664" cy="1234440"/>
          </a:xfrm>
          <a:prstGeom prst="rect">
            <a:avLst/>
          </a:prstGeom>
          <a:noFill/>
        </p:spPr>
        <p:txBody>
          <a:bodyPr wrap="square" lIns="73152" tIns="36576" rIns="73152">
            <a:spAutoFit/>
          </a:bodyPr>
          <a:lstStyle/>
          <a:p>
            <a:pPr>
              <a:spcAft>
                <a:spcPts val="300"/>
              </a:spcAft>
              <a:defRPr sz="880">
                <a:solidFill>
                  <a:srgbClr val="0F172A"/>
                </a:solidFill>
              </a:defRPr>
            </a:pPr>
            <a:r>
              <a:rPr dirty="0"/>
              <a:t>Each line must look like a real log entry</a:t>
            </a:r>
          </a:p>
          <a:p>
            <a:pPr>
              <a:spcAft>
                <a:spcPts val="300"/>
              </a:spcAft>
              <a:defRPr sz="880">
                <a:solidFill>
                  <a:srgbClr val="0F172A"/>
                </a:solidFill>
              </a:defRPr>
            </a:pPr>
            <a:r>
              <a:rPr dirty="0"/>
              <a:t>Session must follow a plausible timeline</a:t>
            </a:r>
          </a:p>
          <a:p>
            <a:pPr>
              <a:spcAft>
                <a:spcPts val="300"/>
              </a:spcAft>
              <a:defRPr sz="880">
                <a:solidFill>
                  <a:srgbClr val="0F172A"/>
                </a:solidFill>
              </a:defRPr>
            </a:pPr>
            <a:r>
              <a:rPr dirty="0"/>
              <a:t>Use service interactions inspired by </a:t>
            </a:r>
            <a:r>
              <a:rPr dirty="0" err="1"/>
              <a:t>LogHub</a:t>
            </a:r>
            <a:r>
              <a:rPr dirty="0"/>
              <a:t>/RCA datasets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09560" y="1943207"/>
            <a:ext cx="3246120" cy="194299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8019288" y="2057400"/>
            <a:ext cx="3008376" cy="310896"/>
          </a:xfrm>
          <a:prstGeom prst="roundRect">
            <a:avLst/>
          </a:prstGeom>
          <a:solidFill>
            <a:srgbClr val="1682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982712" y="2139696"/>
            <a:ext cx="3099816" cy="228600"/>
          </a:xfrm>
          <a:prstGeom prst="rect">
            <a:avLst/>
          </a:prstGeom>
          <a:noFill/>
        </p:spPr>
        <p:txBody>
          <a:bodyPr wrap="square" lIns="64008" tIns="27432" rIns="64008" bIns="27432" anchor="t">
            <a:no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3. Enforce diversity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2510028"/>
            <a:ext cx="3026664" cy="1234440"/>
          </a:xfrm>
          <a:prstGeom prst="rect">
            <a:avLst/>
          </a:prstGeom>
          <a:noFill/>
        </p:spPr>
        <p:txBody>
          <a:bodyPr wrap="square" lIns="73152" tIns="36576" rIns="73152">
            <a:spAutoFit/>
          </a:bodyPr>
          <a:lstStyle/>
          <a:p>
            <a:pPr>
              <a:spcAft>
                <a:spcPts val="300"/>
              </a:spcAft>
              <a:defRPr sz="880">
                <a:solidFill>
                  <a:srgbClr val="0F172A"/>
                </a:solidFill>
              </a:defRPr>
            </a:pPr>
            <a:r>
              <a:rPr dirty="0"/>
              <a:t>Vary service path, length, style, severity and noise</a:t>
            </a:r>
          </a:p>
          <a:p>
            <a:pPr>
              <a:spcAft>
                <a:spcPts val="300"/>
              </a:spcAft>
              <a:defRPr sz="880">
                <a:solidFill>
                  <a:srgbClr val="0F172A"/>
                </a:solidFill>
              </a:defRPr>
            </a:pPr>
            <a:r>
              <a:rPr dirty="0"/>
              <a:t>Deduplicate and check similarity</a:t>
            </a:r>
          </a:p>
          <a:p>
            <a:pPr>
              <a:spcAft>
                <a:spcPts val="300"/>
              </a:spcAft>
              <a:defRPr sz="880">
                <a:solidFill>
                  <a:srgbClr val="0F172A"/>
                </a:solidFill>
              </a:defRPr>
            </a:pPr>
            <a:r>
              <a:rPr dirty="0"/>
              <a:t>Generate more than small template variants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4160520"/>
            <a:ext cx="102870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298448" y="4261104"/>
            <a:ext cx="1920240" cy="320040"/>
          </a:xfrm>
          <a:prstGeom prst="rect">
            <a:avLst/>
          </a:prstGeom>
          <a:noFill/>
        </p:spPr>
        <p:txBody>
          <a:bodyPr wrap="square" lIns="64008" tIns="27432" rIns="64008" bIns="27432" anchor="t">
            <a:noAutofit/>
          </a:bodyPr>
          <a:lstStyle/>
          <a:p>
            <a:pPr algn="l">
              <a:defRPr sz="1300" b="1">
                <a:solidFill>
                  <a:srgbClr val="0C1626"/>
                </a:solidFill>
              </a:defRPr>
            </a:pPr>
            <a:r>
              <a:t>Noise-level checks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63240" y="4224528"/>
            <a:ext cx="8046720" cy="637097"/>
          </a:xfrm>
          <a:prstGeom prst="rect">
            <a:avLst/>
          </a:prstGeom>
          <a:noFill/>
        </p:spPr>
        <p:txBody>
          <a:bodyPr wrap="square" lIns="73152" tIns="36576" rIns="73152">
            <a:spAutoFit/>
          </a:bodyPr>
          <a:lstStyle/>
          <a:p>
            <a:r>
              <a:rPr sz="1200" dirty="0"/>
              <a:t>Low/medium/high noise is validated using log length, evidence-line ratio, unrelated-service count, and distractor WARN/ERROR lines.</a:t>
            </a:r>
          </a:p>
          <a:p>
            <a:r>
              <a:rPr sz="1200" dirty="0"/>
              <a:t>Noise distribution is validated in EDA; per-noise model metrics are reported on a dedicated slide (TF-IDF SVM).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43000" y="5349240"/>
            <a:ext cx="10287000" cy="777240"/>
          </a:xfrm>
          <a:prstGeom prst="roundRect">
            <a:avLst/>
          </a:prstGeom>
          <a:solidFill>
            <a:srgbClr val="FFF8ED"/>
          </a:solidFill>
          <a:ln w="12700">
            <a:solidFill>
              <a:srgbClr val="EF69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298448" y="5449824"/>
            <a:ext cx="9966960" cy="411480"/>
          </a:xfrm>
          <a:prstGeom prst="rect">
            <a:avLst/>
          </a:prstGeom>
          <a:noFill/>
        </p:spPr>
        <p:txBody>
          <a:bodyPr wrap="square" lIns="64008" tIns="27432" rIns="64008" bIns="27432" anchor="ctr">
            <a:noAutofit/>
          </a:bodyPr>
          <a:lstStyle/>
          <a:p>
            <a:pPr algn="l">
              <a:defRPr sz="1030" b="1">
                <a:solidFill>
                  <a:srgbClr val="0F172A"/>
                </a:solidFill>
              </a:defRPr>
            </a:pPr>
            <a:r>
              <a:t>Before training: JSON/schema validation, allowed labels, label coverage, cause-action consistency, evidence-line validity, duplicate/similarity checks, manual review sample.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02920" y="42519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Review methodology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00584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10263A"/>
          </a:solidFill>
          <a:ln w="12700">
            <a:solidFill>
              <a:srgbClr val="2445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77240" y="1207008"/>
            <a:ext cx="1645920" cy="502920"/>
          </a:xfrm>
          <a:prstGeom prst="roundRect">
            <a:avLst>
              <a:gd name="adj" fmla="val 21818"/>
            </a:avLst>
          </a:prstGeom>
          <a:solidFill>
            <a:srgbClr val="0B2335"/>
          </a:solidFill>
          <a:ln w="12700">
            <a:solidFill>
              <a:srgbClr val="2445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0392" y="1271016"/>
            <a:ext cx="1481328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870" b="1" dirty="0">
                <a:solidFill>
                  <a:srgbClr val="F8FAFC"/>
                </a:solidFill>
              </a:rPr>
              <a:t>Controlled</a:t>
            </a:r>
            <a:endParaRPr lang="en-US" sz="870" dirty="0"/>
          </a:p>
          <a:p>
            <a:pPr marL="0" indent="0" algn="ctr">
              <a:buNone/>
            </a:pPr>
            <a:r>
              <a:rPr lang="en-US" sz="870" b="1" dirty="0">
                <a:solidFill>
                  <a:srgbClr val="F8FAFC"/>
                </a:solidFill>
              </a:rPr>
              <a:t>attributes</a:t>
            </a:r>
            <a:endParaRPr lang="en-US" sz="870" dirty="0"/>
          </a:p>
        </p:txBody>
      </p:sp>
      <p:sp>
        <p:nvSpPr>
          <p:cNvPr id="8" name="Text 6"/>
          <p:cNvSpPr/>
          <p:nvPr/>
        </p:nvSpPr>
        <p:spPr>
          <a:xfrm>
            <a:off x="2496312" y="1261872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DD3FC"/>
                </a:solidFill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926080" y="1207008"/>
            <a:ext cx="1645920" cy="502920"/>
          </a:xfrm>
          <a:prstGeom prst="roundRect">
            <a:avLst>
              <a:gd name="adj" fmla="val 21818"/>
            </a:avLst>
          </a:prstGeom>
          <a:solidFill>
            <a:srgbClr val="4A2E07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999232" y="1271016"/>
            <a:ext cx="1481328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870" b="1" dirty="0">
                <a:solidFill>
                  <a:srgbClr val="F8FAFC"/>
                </a:solidFill>
              </a:rPr>
              <a:t>LLM synthetic</a:t>
            </a:r>
            <a:endParaRPr lang="en-US" sz="870" dirty="0"/>
          </a:p>
          <a:p>
            <a:pPr marL="0" indent="0" algn="ctr">
              <a:buNone/>
            </a:pPr>
            <a:r>
              <a:rPr lang="en-US" sz="870" b="1" dirty="0">
                <a:solidFill>
                  <a:srgbClr val="F8FAFC"/>
                </a:solidFill>
              </a:rPr>
              <a:t>generation</a:t>
            </a:r>
            <a:endParaRPr lang="en-US" sz="870" dirty="0"/>
          </a:p>
        </p:txBody>
      </p:sp>
      <p:sp>
        <p:nvSpPr>
          <p:cNvPr id="11" name="Text 9"/>
          <p:cNvSpPr/>
          <p:nvPr/>
        </p:nvSpPr>
        <p:spPr>
          <a:xfrm>
            <a:off x="4645152" y="1261872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DD3FC"/>
                </a:solidFill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074920" y="1207008"/>
            <a:ext cx="1645920" cy="502920"/>
          </a:xfrm>
          <a:prstGeom prst="roundRect">
            <a:avLst>
              <a:gd name="adj" fmla="val 21818"/>
            </a:avLst>
          </a:prstGeom>
          <a:solidFill>
            <a:srgbClr val="0B2335"/>
          </a:solidFill>
          <a:ln w="12700">
            <a:solidFill>
              <a:srgbClr val="2445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148072" y="1271016"/>
            <a:ext cx="1481328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870" b="1" dirty="0">
                <a:solidFill>
                  <a:srgbClr val="F8FAFC"/>
                </a:solidFill>
              </a:rPr>
              <a:t>Schema + label</a:t>
            </a:r>
            <a:endParaRPr lang="en-US" sz="870" dirty="0"/>
          </a:p>
          <a:p>
            <a:pPr marL="0" indent="0" algn="ctr">
              <a:buNone/>
            </a:pPr>
            <a:r>
              <a:rPr lang="en-US" sz="870" b="1" dirty="0">
                <a:solidFill>
                  <a:srgbClr val="F8FAFC"/>
                </a:solidFill>
              </a:rPr>
              <a:t>validation</a:t>
            </a:r>
            <a:endParaRPr lang="en-US" sz="870" dirty="0"/>
          </a:p>
        </p:txBody>
      </p:sp>
      <p:sp>
        <p:nvSpPr>
          <p:cNvPr id="14" name="Text 12"/>
          <p:cNvSpPr/>
          <p:nvPr/>
        </p:nvSpPr>
        <p:spPr>
          <a:xfrm>
            <a:off x="6793992" y="1261872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DD3FC"/>
                </a:solidFill>
              </a:rPr>
              <a:t>→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223760" y="1207008"/>
            <a:ext cx="1645920" cy="502920"/>
          </a:xfrm>
          <a:prstGeom prst="roundRect">
            <a:avLst>
              <a:gd name="adj" fmla="val 21818"/>
            </a:avLst>
          </a:prstGeom>
          <a:solidFill>
            <a:srgbClr val="0B2335"/>
          </a:solidFill>
          <a:ln w="12700">
            <a:solidFill>
              <a:srgbClr val="2445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296912" y="1271016"/>
            <a:ext cx="1481328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870" b="1" dirty="0">
                <a:solidFill>
                  <a:srgbClr val="F8FAFC"/>
                </a:solidFill>
              </a:rPr>
              <a:t>EDA + split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8942832" y="1261872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DD3FC"/>
                </a:solidFill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9372600" y="1207008"/>
            <a:ext cx="1645920" cy="502920"/>
          </a:xfrm>
          <a:prstGeom prst="roundRect">
            <a:avLst>
              <a:gd name="adj" fmla="val 21818"/>
            </a:avLst>
          </a:prstGeom>
          <a:solidFill>
            <a:srgbClr val="0B2335"/>
          </a:solidFill>
          <a:ln w="12700">
            <a:solidFill>
              <a:srgbClr val="2445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445752" y="1271016"/>
            <a:ext cx="1481328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870" b="1" dirty="0">
                <a:solidFill>
                  <a:srgbClr val="F8FAFC"/>
                </a:solidFill>
              </a:rPr>
              <a:t>Baselines +</a:t>
            </a:r>
            <a:endParaRPr lang="en-US" sz="870" dirty="0"/>
          </a:p>
          <a:p>
            <a:pPr marL="0" indent="0" algn="ctr">
              <a:buNone/>
            </a:pPr>
            <a:r>
              <a:rPr lang="en-US" sz="870" b="1" dirty="0">
                <a:solidFill>
                  <a:srgbClr val="F8FAFC"/>
                </a:solidFill>
              </a:rPr>
              <a:t>evaluation</a:t>
            </a:r>
            <a:endParaRPr lang="en-US" sz="870" dirty="0"/>
          </a:p>
        </p:txBody>
      </p:sp>
      <p:sp>
        <p:nvSpPr>
          <p:cNvPr id="20" name="Shape 18"/>
          <p:cNvSpPr/>
          <p:nvPr/>
        </p:nvSpPr>
        <p:spPr>
          <a:xfrm>
            <a:off x="548640" y="2240280"/>
            <a:ext cx="3474720" cy="3977640"/>
          </a:xfrm>
          <a:prstGeom prst="roundRect">
            <a:avLst>
              <a:gd name="adj" fmla="val 3158"/>
            </a:avLst>
          </a:prstGeom>
          <a:solidFill>
            <a:srgbClr val="0E1B2A"/>
          </a:solidFill>
          <a:ln w="12700">
            <a:solidFill>
              <a:srgbClr val="2445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22960" y="2468880"/>
            <a:ext cx="292608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7DD3FC"/>
                </a:solidFill>
              </a:rPr>
              <a:t>Synthetic data recipe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22960" y="2880360"/>
            <a:ext cx="288036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lang="en-US" sz="1000" dirty="0">
                <a:solidFill>
                  <a:srgbClr val="F8FAFC"/>
                </a:solidFill>
              </a:rPr>
              <a:t>LLM prompted with fixed attributes: cause, service, severity, action, noise, log length, and style.</a:t>
            </a:r>
            <a:endParaRPr lang="en-US" sz="1000" dirty="0"/>
          </a:p>
          <a:p>
            <a:r>
              <a:rPr lang="en-US" sz="1000" dirty="0">
                <a:solidFill>
                  <a:srgbClr val="F8FAFC"/>
                </a:solidFill>
              </a:rPr>
              <a:t>JSON schema forces numbered logs and evidence-line labels.</a:t>
            </a:r>
            <a:endParaRPr lang="en-US" sz="1000" dirty="0"/>
          </a:p>
          <a:p>
            <a:r>
              <a:rPr lang="en-US" sz="1000" dirty="0">
                <a:solidFill>
                  <a:srgbClr val="F8FAFC"/>
                </a:solidFill>
              </a:rPr>
              <a:t>Validation removes malformed JSON, invalid labels, invalid line references, and duplicates.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68680" y="4370832"/>
            <a:ext cx="2697480" cy="1170432"/>
          </a:xfrm>
          <a:prstGeom prst="roundRect">
            <a:avLst>
              <a:gd name="adj" fmla="val 9375"/>
            </a:avLst>
          </a:prstGeom>
          <a:solidFill>
            <a:srgbClr val="0B2335"/>
          </a:solidFill>
          <a:ln w="12700">
            <a:solidFill>
              <a:srgbClr val="1E45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051560" y="4517136"/>
            <a:ext cx="109728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97316"/>
                </a:solidFill>
              </a:rPr>
              <a:t>Dataset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51560" y="4800600"/>
            <a:ext cx="214884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r>
              <a:rPr sz="900" dirty="0">
                <a:solidFill>
                  <a:schemeClr val="bg2"/>
                </a:solidFill>
              </a:rPr>
              <a:t>5,000 examples</a:t>
            </a:r>
          </a:p>
          <a:p>
            <a:r>
              <a:rPr sz="900" dirty="0">
                <a:solidFill>
                  <a:schemeClr val="bg2"/>
                </a:solidFill>
              </a:rPr>
              <a:t>70 / 15 / 15 split (3500 / 750 / 750)</a:t>
            </a:r>
          </a:p>
          <a:p>
            <a:r>
              <a:rPr sz="900" dirty="0">
                <a:solidFill>
                  <a:schemeClr val="bg2"/>
                </a:solidFill>
              </a:rPr>
              <a:t>Avg. 7.67 log lines</a:t>
            </a:r>
          </a:p>
        </p:txBody>
      </p:sp>
      <p:sp>
        <p:nvSpPr>
          <p:cNvPr id="26" name="Shape 24"/>
          <p:cNvSpPr/>
          <p:nvPr/>
        </p:nvSpPr>
        <p:spPr>
          <a:xfrm>
            <a:off x="4251960" y="2240280"/>
            <a:ext cx="3429000" cy="3977640"/>
          </a:xfrm>
          <a:prstGeom prst="roundRect">
            <a:avLst>
              <a:gd name="adj" fmla="val 3200"/>
            </a:avLst>
          </a:prstGeom>
          <a:solidFill>
            <a:srgbClr val="0E1B2A"/>
          </a:solidFill>
          <a:ln w="12700">
            <a:solidFill>
              <a:srgbClr val="2445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526280" y="2468880"/>
            <a:ext cx="237744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7DD3FC"/>
                </a:solidFill>
              </a:rPr>
              <a:t>EDA checks</a:t>
            </a:r>
            <a:endParaRPr lang="en-US" sz="1500" dirty="0"/>
          </a:p>
        </p:txBody>
      </p:sp>
      <p:pic>
        <p:nvPicPr>
          <p:cNvPr id="28" name="Image 0" descr="/mnt/data/logtriage_work/logtriage_submission/visuals/class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2816352"/>
            <a:ext cx="2971800" cy="1417320"/>
          </a:xfrm>
          <a:prstGeom prst="rect">
            <a:avLst/>
          </a:prstGeom>
        </p:spPr>
      </p:pic>
      <p:pic>
        <p:nvPicPr>
          <p:cNvPr id="29" name="Image 1" descr="/mnt/data/logtriage_work/logtriage_submission/visuals/severity_distribu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0" y="4434840"/>
            <a:ext cx="2971800" cy="1325880"/>
          </a:xfrm>
          <a:prstGeom prst="rect">
            <a:avLst/>
          </a:prstGeom>
        </p:spPr>
      </p:pic>
      <p:sp>
        <p:nvSpPr>
          <p:cNvPr id="30" name="Shape 26"/>
          <p:cNvSpPr/>
          <p:nvPr/>
        </p:nvSpPr>
        <p:spPr>
          <a:xfrm>
            <a:off x="7909560" y="2240280"/>
            <a:ext cx="3703320" cy="3977640"/>
          </a:xfrm>
          <a:prstGeom prst="roundRect">
            <a:avLst>
              <a:gd name="adj" fmla="val 2963"/>
            </a:avLst>
          </a:prstGeom>
          <a:solidFill>
            <a:srgbClr val="0E1B2A"/>
          </a:solidFill>
          <a:ln w="12700">
            <a:solidFill>
              <a:srgbClr val="2445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/>
          <p:cNvSpPr/>
          <p:nvPr/>
        </p:nvSpPr>
        <p:spPr>
          <a:xfrm>
            <a:off x="8183880" y="2468880"/>
            <a:ext cx="274320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7DD3FC"/>
                </a:solidFill>
              </a:rPr>
              <a:t>Model experiments</a:t>
            </a:r>
            <a:endParaRPr lang="en-US" sz="1500" dirty="0"/>
          </a:p>
        </p:txBody>
      </p:sp>
      <p:sp>
        <p:nvSpPr>
          <p:cNvPr id="32" name="Shape 28"/>
          <p:cNvSpPr/>
          <p:nvPr/>
        </p:nvSpPr>
        <p:spPr>
          <a:xfrm>
            <a:off x="8183880" y="2880360"/>
            <a:ext cx="3154680" cy="347472"/>
          </a:xfrm>
          <a:prstGeom prst="roundRect">
            <a:avLst>
              <a:gd name="adj" fmla="val 13158"/>
            </a:avLst>
          </a:prstGeom>
          <a:solidFill>
            <a:srgbClr val="0B2335"/>
          </a:solidFill>
          <a:ln w="12700">
            <a:solidFill>
              <a:srgbClr val="24455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29"/>
          <p:cNvSpPr/>
          <p:nvPr/>
        </p:nvSpPr>
        <p:spPr>
          <a:xfrm>
            <a:off x="8302752" y="2953512"/>
            <a:ext cx="14630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780" b="1" dirty="0">
                <a:solidFill>
                  <a:srgbClr val="F8FAFC"/>
                </a:solidFill>
              </a:rPr>
              <a:t>Rule-based baseline</a:t>
            </a:r>
            <a:endParaRPr lang="en-US" sz="780" dirty="0"/>
          </a:p>
        </p:txBody>
      </p:sp>
      <p:sp>
        <p:nvSpPr>
          <p:cNvPr id="34" name="Text 30"/>
          <p:cNvSpPr/>
          <p:nvPr/>
        </p:nvSpPr>
        <p:spPr>
          <a:xfrm>
            <a:off x="9829800" y="2953512"/>
            <a:ext cx="13716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780" dirty="0">
                <a:solidFill>
                  <a:srgbClr val="7DD3FC"/>
                </a:solidFill>
              </a:rPr>
              <a:t>evaluated</a:t>
            </a:r>
            <a:endParaRPr lang="en-US" sz="780" dirty="0"/>
          </a:p>
        </p:txBody>
      </p:sp>
      <p:sp>
        <p:nvSpPr>
          <p:cNvPr id="35" name="Shape 31"/>
          <p:cNvSpPr/>
          <p:nvPr/>
        </p:nvSpPr>
        <p:spPr>
          <a:xfrm>
            <a:off x="8183880" y="3319272"/>
            <a:ext cx="3154680" cy="347472"/>
          </a:xfrm>
          <a:prstGeom prst="roundRect">
            <a:avLst>
              <a:gd name="adj" fmla="val 13158"/>
            </a:avLst>
          </a:prstGeom>
          <a:solidFill>
            <a:srgbClr val="10263A"/>
          </a:solidFill>
          <a:ln w="12700">
            <a:solidFill>
              <a:srgbClr val="24455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2"/>
          <p:cNvSpPr/>
          <p:nvPr/>
        </p:nvSpPr>
        <p:spPr>
          <a:xfrm>
            <a:off x="8302752" y="3392424"/>
            <a:ext cx="14630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780" b="1" dirty="0">
                <a:solidFill>
                  <a:srgbClr val="F8FAFC"/>
                </a:solidFill>
              </a:rPr>
              <a:t>TF-IDF + Logistic Reg.</a:t>
            </a:r>
            <a:endParaRPr lang="en-US" sz="780" dirty="0"/>
          </a:p>
        </p:txBody>
      </p:sp>
      <p:sp>
        <p:nvSpPr>
          <p:cNvPr id="37" name="Text 33"/>
          <p:cNvSpPr/>
          <p:nvPr/>
        </p:nvSpPr>
        <p:spPr>
          <a:xfrm>
            <a:off x="9829800" y="3392424"/>
            <a:ext cx="13716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780" dirty="0">
                <a:solidFill>
                  <a:srgbClr val="7DD3FC"/>
                </a:solidFill>
              </a:rPr>
              <a:t>evaluated</a:t>
            </a:r>
            <a:endParaRPr lang="en-US" sz="780" dirty="0"/>
          </a:p>
        </p:txBody>
      </p:sp>
      <p:sp>
        <p:nvSpPr>
          <p:cNvPr id="38" name="Shape 34"/>
          <p:cNvSpPr/>
          <p:nvPr/>
        </p:nvSpPr>
        <p:spPr>
          <a:xfrm>
            <a:off x="8183880" y="3758184"/>
            <a:ext cx="3154680" cy="347472"/>
          </a:xfrm>
          <a:prstGeom prst="roundRect">
            <a:avLst>
              <a:gd name="adj" fmla="val 13158"/>
            </a:avLst>
          </a:prstGeom>
          <a:solidFill>
            <a:srgbClr val="0B2335"/>
          </a:solidFill>
          <a:ln w="12700">
            <a:solidFill>
              <a:srgbClr val="24455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7"/>
          <p:cNvSpPr/>
          <p:nvPr/>
        </p:nvSpPr>
        <p:spPr>
          <a:xfrm>
            <a:off x="8183880" y="4197096"/>
            <a:ext cx="3154680" cy="347472"/>
          </a:xfrm>
          <a:prstGeom prst="roundRect">
            <a:avLst>
              <a:gd name="adj" fmla="val 13158"/>
            </a:avLst>
          </a:prstGeom>
          <a:solidFill>
            <a:srgbClr val="10263A"/>
          </a:solidFill>
          <a:ln w="12700">
            <a:solidFill>
              <a:srgbClr val="24455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5" name="Text 41"/>
          <p:cNvSpPr/>
          <p:nvPr/>
        </p:nvSpPr>
        <p:spPr>
          <a:xfrm>
            <a:off x="502920" y="64465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</a:rPr>
              <a:t>LogTriage - NLP Course Final Presentation</a:t>
            </a:r>
            <a:endParaRPr lang="en-US" sz="850" dirty="0"/>
          </a:p>
        </p:txBody>
      </p:sp>
      <p:sp>
        <p:nvSpPr>
          <p:cNvPr id="4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DD3FC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  <p:sp>
        <p:nvSpPr>
          <p:cNvPr id="47" name="Shape 28">
            <a:extLst>
              <a:ext uri="{FF2B5EF4-FFF2-40B4-BE49-F238E27FC236}">
                <a16:creationId xmlns:a16="http://schemas.microsoft.com/office/drawing/2014/main" id="{B5779560-D903-DBA4-713F-3BDC0D5ED36D}"/>
              </a:ext>
            </a:extLst>
          </p:cNvPr>
          <p:cNvSpPr/>
          <p:nvPr/>
        </p:nvSpPr>
        <p:spPr>
          <a:xfrm>
            <a:off x="8183880" y="4631182"/>
            <a:ext cx="3154680" cy="347472"/>
          </a:xfrm>
          <a:prstGeom prst="roundRect">
            <a:avLst>
              <a:gd name="adj" fmla="val 13158"/>
            </a:avLst>
          </a:prstGeom>
          <a:solidFill>
            <a:srgbClr val="0B2335"/>
          </a:solidFill>
          <a:ln w="12700">
            <a:solidFill>
              <a:srgbClr val="24455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29">
            <a:extLst>
              <a:ext uri="{FF2B5EF4-FFF2-40B4-BE49-F238E27FC236}">
                <a16:creationId xmlns:a16="http://schemas.microsoft.com/office/drawing/2014/main" id="{6ABA2E66-809E-CB3E-16AB-A0EFBCEBE971}"/>
              </a:ext>
            </a:extLst>
          </p:cNvPr>
          <p:cNvSpPr/>
          <p:nvPr/>
        </p:nvSpPr>
        <p:spPr>
          <a:xfrm>
            <a:off x="8302752" y="4732020"/>
            <a:ext cx="14630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Character TF-IDF + SVM</a:t>
            </a:r>
            <a:endParaRPr lang="en-US" sz="780" dirty="0">
              <a:solidFill>
                <a:schemeClr val="bg1"/>
              </a:solidFill>
            </a:endParaRPr>
          </a:p>
        </p:txBody>
      </p:sp>
      <p:sp>
        <p:nvSpPr>
          <p:cNvPr id="49" name="Text 30">
            <a:extLst>
              <a:ext uri="{FF2B5EF4-FFF2-40B4-BE49-F238E27FC236}">
                <a16:creationId xmlns:a16="http://schemas.microsoft.com/office/drawing/2014/main" id="{26D3B772-C732-B177-B108-364926647054}"/>
              </a:ext>
            </a:extLst>
          </p:cNvPr>
          <p:cNvSpPr/>
          <p:nvPr/>
        </p:nvSpPr>
        <p:spPr>
          <a:xfrm>
            <a:off x="9829800" y="4732020"/>
            <a:ext cx="13716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780" dirty="0">
                <a:solidFill>
                  <a:srgbClr val="7DD3FC"/>
                </a:solidFill>
              </a:rPr>
              <a:t>evaluated</a:t>
            </a:r>
            <a:endParaRPr lang="en-US" sz="780" dirty="0"/>
          </a:p>
        </p:txBody>
      </p:sp>
      <p:sp>
        <p:nvSpPr>
          <p:cNvPr id="51" name="Text 29">
            <a:extLst>
              <a:ext uri="{FF2B5EF4-FFF2-40B4-BE49-F238E27FC236}">
                <a16:creationId xmlns:a16="http://schemas.microsoft.com/office/drawing/2014/main" id="{920E035E-4F11-2E70-5A14-036A688EE235}"/>
              </a:ext>
            </a:extLst>
          </p:cNvPr>
          <p:cNvSpPr/>
          <p:nvPr/>
        </p:nvSpPr>
        <p:spPr>
          <a:xfrm>
            <a:off x="8255508" y="3847338"/>
            <a:ext cx="14630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TF-IDF + Linear SVM</a:t>
            </a:r>
            <a:endParaRPr lang="en-US" sz="780" dirty="0">
              <a:solidFill>
                <a:schemeClr val="bg1"/>
              </a:solidFill>
            </a:endParaRPr>
          </a:p>
        </p:txBody>
      </p:sp>
      <p:sp>
        <p:nvSpPr>
          <p:cNvPr id="52" name="Text 30">
            <a:extLst>
              <a:ext uri="{FF2B5EF4-FFF2-40B4-BE49-F238E27FC236}">
                <a16:creationId xmlns:a16="http://schemas.microsoft.com/office/drawing/2014/main" id="{6C1D0B07-2933-02D8-7556-3318620AD0CA}"/>
              </a:ext>
            </a:extLst>
          </p:cNvPr>
          <p:cNvSpPr/>
          <p:nvPr/>
        </p:nvSpPr>
        <p:spPr>
          <a:xfrm>
            <a:off x="9814560" y="3834638"/>
            <a:ext cx="13716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780" dirty="0">
                <a:solidFill>
                  <a:srgbClr val="7DD3FC"/>
                </a:solidFill>
              </a:rPr>
              <a:t>evaluated</a:t>
            </a:r>
            <a:endParaRPr lang="en-US" sz="780" dirty="0"/>
          </a:p>
        </p:txBody>
      </p:sp>
      <p:sp>
        <p:nvSpPr>
          <p:cNvPr id="53" name="Shape 28">
            <a:extLst>
              <a:ext uri="{FF2B5EF4-FFF2-40B4-BE49-F238E27FC236}">
                <a16:creationId xmlns:a16="http://schemas.microsoft.com/office/drawing/2014/main" id="{D6ACFF58-F1AD-ECDF-03A9-3650359EF44B}"/>
              </a:ext>
            </a:extLst>
          </p:cNvPr>
          <p:cNvSpPr/>
          <p:nvPr/>
        </p:nvSpPr>
        <p:spPr>
          <a:xfrm>
            <a:off x="8168640" y="5477256"/>
            <a:ext cx="3154680" cy="347472"/>
          </a:xfrm>
          <a:prstGeom prst="roundRect">
            <a:avLst>
              <a:gd name="adj" fmla="val 13158"/>
            </a:avLst>
          </a:prstGeom>
          <a:solidFill>
            <a:srgbClr val="0B2335"/>
          </a:solidFill>
          <a:ln w="12700">
            <a:solidFill>
              <a:srgbClr val="24455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28">
            <a:extLst>
              <a:ext uri="{FF2B5EF4-FFF2-40B4-BE49-F238E27FC236}">
                <a16:creationId xmlns:a16="http://schemas.microsoft.com/office/drawing/2014/main" id="{EEA1F0B6-1FA2-D34B-720F-F58CFE5FABD5}"/>
              </a:ext>
            </a:extLst>
          </p:cNvPr>
          <p:cNvSpPr/>
          <p:nvPr/>
        </p:nvSpPr>
        <p:spPr>
          <a:xfrm>
            <a:off x="8168640" y="5054346"/>
            <a:ext cx="3154680" cy="347472"/>
          </a:xfrm>
          <a:prstGeom prst="roundRect">
            <a:avLst>
              <a:gd name="adj" fmla="val 13158"/>
            </a:avLst>
          </a:prstGeom>
          <a:solidFill>
            <a:srgbClr val="0B2335"/>
          </a:solidFill>
          <a:ln w="12700">
            <a:solidFill>
              <a:srgbClr val="24455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29">
            <a:extLst>
              <a:ext uri="{FF2B5EF4-FFF2-40B4-BE49-F238E27FC236}">
                <a16:creationId xmlns:a16="http://schemas.microsoft.com/office/drawing/2014/main" id="{85DE30B3-A581-D8DA-3771-19D405A6D3B5}"/>
              </a:ext>
            </a:extLst>
          </p:cNvPr>
          <p:cNvSpPr/>
          <p:nvPr/>
        </p:nvSpPr>
        <p:spPr>
          <a:xfrm>
            <a:off x="8248650" y="4293997"/>
            <a:ext cx="14630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TF-IDF + Naive Bayes</a:t>
            </a:r>
            <a:endParaRPr lang="en-US" sz="780" dirty="0">
              <a:solidFill>
                <a:schemeClr val="bg1"/>
              </a:solidFill>
            </a:endParaRPr>
          </a:p>
        </p:txBody>
      </p:sp>
      <p:sp>
        <p:nvSpPr>
          <p:cNvPr id="55" name="Text 30">
            <a:extLst>
              <a:ext uri="{FF2B5EF4-FFF2-40B4-BE49-F238E27FC236}">
                <a16:creationId xmlns:a16="http://schemas.microsoft.com/office/drawing/2014/main" id="{D973BC62-73A4-F9E6-7959-3A9169899380}"/>
              </a:ext>
            </a:extLst>
          </p:cNvPr>
          <p:cNvSpPr/>
          <p:nvPr/>
        </p:nvSpPr>
        <p:spPr>
          <a:xfrm>
            <a:off x="9829800" y="4298061"/>
            <a:ext cx="13716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780" dirty="0">
                <a:solidFill>
                  <a:srgbClr val="7DD3FC"/>
                </a:solidFill>
              </a:rPr>
              <a:t>evaluated</a:t>
            </a:r>
            <a:endParaRPr lang="en-US" sz="780" dirty="0"/>
          </a:p>
        </p:txBody>
      </p:sp>
      <p:sp>
        <p:nvSpPr>
          <p:cNvPr id="40" name="Text 36"/>
          <p:cNvSpPr/>
          <p:nvPr/>
        </p:nvSpPr>
        <p:spPr>
          <a:xfrm>
            <a:off x="9829800" y="5166360"/>
            <a:ext cx="13716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Autofit/>
          </a:bodyPr>
          <a:lstStyle/>
          <a:p>
            <a:r>
              <a:rPr sz="780" dirty="0">
                <a:solidFill>
                  <a:srgbClr val="7DD3FC"/>
                </a:solidFill>
              </a:rPr>
              <a:t>evaluated</a:t>
            </a:r>
            <a:r>
              <a:rPr sz="900" dirty="0">
                <a:solidFill>
                  <a:schemeClr val="accent1"/>
                </a:solidFill>
              </a:rPr>
              <a:t> </a:t>
            </a:r>
            <a:r>
              <a:rPr sz="780" dirty="0">
                <a:solidFill>
                  <a:srgbClr val="7DD3FC"/>
                </a:solidFill>
              </a:rPr>
              <a:t>(n=30)</a:t>
            </a:r>
          </a:p>
        </p:txBody>
      </p:sp>
      <p:sp>
        <p:nvSpPr>
          <p:cNvPr id="39" name="Text 35"/>
          <p:cNvSpPr/>
          <p:nvPr/>
        </p:nvSpPr>
        <p:spPr>
          <a:xfrm>
            <a:off x="8291703" y="5166360"/>
            <a:ext cx="15270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r>
              <a:rPr sz="780" dirty="0">
                <a:solidFill>
                  <a:schemeClr val="bg1"/>
                </a:solidFill>
              </a:rPr>
              <a:t>Zero/few-shot LLM</a:t>
            </a:r>
          </a:p>
        </p:txBody>
      </p:sp>
      <p:sp>
        <p:nvSpPr>
          <p:cNvPr id="42" name="Text 38"/>
          <p:cNvSpPr/>
          <p:nvPr/>
        </p:nvSpPr>
        <p:spPr>
          <a:xfrm>
            <a:off x="8264652" y="5596128"/>
            <a:ext cx="14630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780" b="1" dirty="0">
                <a:solidFill>
                  <a:srgbClr val="F8FAFC"/>
                </a:solidFill>
              </a:rPr>
              <a:t>DistilBERT classifier</a:t>
            </a:r>
            <a:endParaRPr lang="en-US" sz="780" dirty="0"/>
          </a:p>
        </p:txBody>
      </p:sp>
      <p:sp>
        <p:nvSpPr>
          <p:cNvPr id="43" name="Text 39"/>
          <p:cNvSpPr/>
          <p:nvPr/>
        </p:nvSpPr>
        <p:spPr>
          <a:xfrm>
            <a:off x="9829800" y="5596128"/>
            <a:ext cx="13716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 fontScale="62500" lnSpcReduction="20000"/>
          </a:bodyPr>
          <a:lstStyle/>
          <a:p>
            <a:r>
              <a:rPr sz="1300" dirty="0">
                <a:solidFill>
                  <a:srgbClr val="7DD3FC"/>
                </a:solidFill>
              </a:rPr>
              <a:t>evaluated</a:t>
            </a:r>
            <a:r>
              <a:rPr dirty="0">
                <a:solidFill>
                  <a:schemeClr val="accent1"/>
                </a:solidFill>
              </a:rPr>
              <a:t> </a:t>
            </a:r>
            <a:r>
              <a:rPr sz="1300" dirty="0">
                <a:solidFill>
                  <a:srgbClr val="7DD3FC"/>
                </a:solidFill>
              </a:rPr>
              <a:t>(n=75)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2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6084101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rPr>
                <a:solidFill>
                  <a:schemeClr val="bg2"/>
                </a:solidFill>
              </a:rPr>
              <a:t>Example triage: rules vs. TF-IDF SVM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6194837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rPr>
                <a:solidFill>
                  <a:schemeClr val="bg2"/>
                </a:solidFill>
              </a:rPr>
              <a:t>Test session sess_02876 — keyword rules miss affected service; ML learns log cues.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5303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8FAFC"/>
                </a:solidFill>
              </a:defRPr>
            </a:pPr>
            <a:r>
              <a:rPr>
                <a:solidFill>
                  <a:schemeClr val="bg2"/>
                </a:solidFill>
              </a:rPr>
              <a:t>Log excerpt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530352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E8EEF8"/>
                </a:solidFill>
                <a:latin typeface="Consolas"/>
              </a:defRPr>
            </a:pPr>
            <a:r>
              <a:rPr>
                <a:solidFill>
                  <a:schemeClr val="bg2"/>
                </a:solidFill>
              </a:rPr>
              <a:t>[1] 2026-05-01 10:14:01 shipping-service INFO feature_flag fast_inventory=enabled</a:t>
            </a:r>
          </a:p>
          <a:p>
            <a:r>
              <a:rPr>
                <a:solidFill>
                  <a:schemeClr val="bg2"/>
                </a:solidFill>
              </a:rPr>
              <a:t>[2] 2026-05-01 10:14:02 notification-service INFO metrics cpu=54% mem=1438MB</a:t>
            </a:r>
          </a:p>
          <a:p>
            <a:r>
              <a:rPr>
                <a:solidFill>
                  <a:schemeClr val="bg2"/>
                </a:solidFill>
              </a:rPr>
              <a:t>[3] 2026-05-01 10:14:03 payment-service INFO heartbeat ok instance=2</a:t>
            </a:r>
          </a:p>
          <a:p>
            <a:r>
              <a:rPr>
                <a:solidFill>
                  <a:schemeClr val="bg2"/>
                </a:solidFill>
              </a:rPr>
              <a:t>[4] 2026-05-01 10:14:04 order-service INFO publishing order_created event order_id=7046</a:t>
            </a:r>
          </a:p>
          <a:p>
            <a:r>
              <a:rPr>
                <a:solidFill>
                  <a:schemeClr val="bg2"/>
                </a:solidFill>
              </a:rPr>
              <a:t>[5] 2026-05-01 10:14:05 queue-service WARN topic=order-events lag=9363 consumers=2</a:t>
            </a:r>
          </a:p>
          <a:p>
            <a:r>
              <a:rPr>
                <a:solidFill>
                  <a:schemeClr val="bg2"/>
                </a:solidFill>
              </a:rPr>
              <a:t>[6] 2026-05-01 10:14:06 queue-service ERROR message queue backlog exceeded threshold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417320"/>
            <a:ext cx="2286000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E8EEF8"/>
                </a:solidFill>
                <a:latin typeface="Consolas"/>
              </a:defRPr>
            </a:pPr>
            <a:r>
              <a:rPr>
                <a:solidFill>
                  <a:schemeClr val="bg2"/>
                </a:solidFill>
              </a:rPr>
              <a:t>Gold</a:t>
            </a:r>
          </a:p>
          <a:p>
            <a:r>
              <a:rPr>
                <a:solidFill>
                  <a:schemeClr val="bg2"/>
                </a:solidFill>
              </a:rPr>
              <a:t>cause: message_queue_backlog</a:t>
            </a:r>
          </a:p>
          <a:p>
            <a:r>
              <a:rPr>
                <a:solidFill>
                  <a:schemeClr val="bg2"/>
                </a:solidFill>
              </a:rPr>
              <a:t>service: queue-service</a:t>
            </a:r>
          </a:p>
          <a:p>
            <a:r>
              <a:rPr>
                <a:solidFill>
                  <a:schemeClr val="bg2"/>
                </a:solidFill>
              </a:rPr>
              <a:t>severity: high</a:t>
            </a:r>
          </a:p>
          <a:p>
            <a:r>
              <a:rPr>
                <a:solidFill>
                  <a:schemeClr val="bg2"/>
                </a:solidFill>
              </a:rPr>
              <a:t>action: scale_queue_consumers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1417320"/>
            <a:ext cx="2286000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E8EEF8"/>
                </a:solidFill>
                <a:latin typeface="Consolas"/>
              </a:defRPr>
            </a:pPr>
            <a:r>
              <a:rPr>
                <a:solidFill>
                  <a:schemeClr val="bg2"/>
                </a:solidFill>
              </a:rPr>
              <a:t>Rules</a:t>
            </a:r>
          </a:p>
          <a:p>
            <a:r>
              <a:rPr>
                <a:solidFill>
                  <a:schemeClr val="bg2"/>
                </a:solidFill>
              </a:rPr>
              <a:t>cause: message_queue_backlog</a:t>
            </a:r>
          </a:p>
          <a:p>
            <a:r>
              <a:rPr>
                <a:solidFill>
                  <a:schemeClr val="bg2"/>
                </a:solidFill>
              </a:rPr>
              <a:t>service: notification-service</a:t>
            </a:r>
          </a:p>
          <a:p>
            <a:r>
              <a:rPr>
                <a:solidFill>
                  <a:schemeClr val="bg2"/>
                </a:solidFill>
              </a:rPr>
              <a:t>severity: medium</a:t>
            </a:r>
          </a:p>
          <a:p>
            <a:r>
              <a:rPr>
                <a:solidFill>
                  <a:schemeClr val="bg2"/>
                </a:solidFill>
              </a:rPr>
              <a:t>action: scale_queue_consumers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4236561"/>
            <a:ext cx="4754880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E8EEF8"/>
                </a:solidFill>
                <a:latin typeface="Consolas"/>
              </a:defRPr>
            </a:pPr>
            <a:r>
              <a:rPr dirty="0">
                <a:solidFill>
                  <a:schemeClr val="bg2"/>
                </a:solidFill>
              </a:rPr>
              <a:t>TF-IDF SVM</a:t>
            </a:r>
          </a:p>
          <a:p>
            <a:r>
              <a:rPr dirty="0">
                <a:solidFill>
                  <a:schemeClr val="bg2"/>
                </a:solidFill>
              </a:rPr>
              <a:t>cause: </a:t>
            </a:r>
            <a:r>
              <a:rPr dirty="0" err="1">
                <a:solidFill>
                  <a:schemeClr val="bg2"/>
                </a:solidFill>
              </a:rPr>
              <a:t>message_queue_backlog</a:t>
            </a:r>
            <a:endParaRPr dirty="0">
              <a:solidFill>
                <a:schemeClr val="bg2"/>
              </a:solidFill>
            </a:endParaRPr>
          </a:p>
          <a:p>
            <a:r>
              <a:rPr dirty="0">
                <a:solidFill>
                  <a:schemeClr val="bg2"/>
                </a:solidFill>
              </a:rPr>
              <a:t>service: queue-service</a:t>
            </a:r>
          </a:p>
          <a:p>
            <a:r>
              <a:rPr dirty="0">
                <a:solidFill>
                  <a:schemeClr val="bg2"/>
                </a:solidFill>
              </a:rPr>
              <a:t>severity: medium</a:t>
            </a:r>
          </a:p>
          <a:p>
            <a:r>
              <a:rPr dirty="0">
                <a:solidFill>
                  <a:schemeClr val="bg2"/>
                </a:solidFill>
              </a:rPr>
              <a:t>action: </a:t>
            </a:r>
            <a:r>
              <a:rPr dirty="0" err="1">
                <a:solidFill>
                  <a:schemeClr val="bg2"/>
                </a:solidFill>
              </a:rPr>
              <a:t>scale_queue_consumers</a:t>
            </a:r>
            <a:endParaRPr dirty="0">
              <a:solidFill>
                <a:schemeClr val="bg2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4818888"/>
            <a:ext cx="530352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E8EEF8"/>
                </a:solidFill>
              </a:defRPr>
            </a:pPr>
            <a:r>
              <a:rPr>
                <a:solidFill>
                  <a:schemeClr val="bg2"/>
                </a:solidFill>
              </a:rPr>
              <a:t>• Rules match cause/action keywords but pick notification-service instead of queue-service.</a:t>
            </a:r>
          </a:p>
          <a:p>
            <a:r>
              <a:rPr>
                <a:solidFill>
                  <a:schemeClr val="bg2"/>
                </a:solidFill>
              </a:rPr>
              <a:t>• TF-IDF SVM recovers the correct service from queue-related log lines.</a:t>
            </a:r>
          </a:p>
          <a:p>
            <a:r>
              <a:rPr>
                <a:solidFill>
                  <a:schemeClr val="bg2"/>
                </a:solidFill>
              </a:rPr>
              <a:t>• Severity remains hard for both models on this example (gold=high, pred=medium).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46520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94A3B8"/>
                </a:solidFill>
              </a:defRPr>
            </a:pPr>
            <a:r>
              <a:t>LogTriage - NLP Course Final Presentation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94A3B8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Results: real model testing on held-out test set</a:t>
            </a:r>
          </a:p>
        </p:txBody>
      </p:sp>
      <p:pic>
        <p:nvPicPr>
          <p:cNvPr id="5" name="Picture 4" descr="macro_f1_b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695578"/>
            <a:ext cx="4434840" cy="24688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69862" y="4716919"/>
            <a:ext cx="1966040" cy="187652"/>
          </a:xfrm>
          <a:prstGeom prst="roundRect">
            <a:avLst/>
          </a:prstGeom>
          <a:solidFill>
            <a:srgbClr val="1E8239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</a:rPr>
              <a:t>Best cause/service/action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9861" y="5071257"/>
            <a:ext cx="2177588" cy="663330"/>
          </a:xfrm>
          <a:prstGeom prst="roundRect">
            <a:avLst/>
          </a:prstGeom>
          <a:solidFill>
            <a:srgbClr val="232323"/>
          </a:solidFill>
          <a:ln w="10160">
            <a:solidFill>
              <a:srgbClr val="24A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8900" rIns="88900" rtlCol="0" anchor="ctr"/>
          <a:lstStyle/>
          <a:p>
            <a:r>
              <a:rPr sz="900" dirty="0"/>
              <a:t>TF-IDF models reach ~1.000 F1 on cause and action; service is 1.000 for most models (0.997 for NB) because the synthetic data has strong learnable signals.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93606" y="4719803"/>
            <a:ext cx="1966040" cy="187652"/>
          </a:xfrm>
          <a:prstGeom prst="roundRect">
            <a:avLst/>
          </a:prstGeom>
          <a:solidFill>
            <a:srgbClr val="EF6E2E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</a:rPr>
              <a:t>Hardest output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93606" y="5062083"/>
            <a:ext cx="2177587" cy="663330"/>
          </a:xfrm>
          <a:prstGeom prst="roundRect">
            <a:avLst/>
          </a:prstGeom>
          <a:solidFill>
            <a:srgbClr val="232323"/>
          </a:solidFill>
          <a:ln w="10160">
            <a:solidFill>
              <a:srgbClr val="24A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8900" rIns="88900" rtlCol="0" anchor="ctr"/>
          <a:lstStyle/>
          <a:p>
            <a:r>
              <a:rPr sz="900" dirty="0"/>
              <a:t>Severity is lower: it depends on impact/context, not only words. Best real severity F1: 0.64 with Linear SVM.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17350" y="4719803"/>
            <a:ext cx="1966040" cy="187652"/>
          </a:xfrm>
          <a:prstGeom prst="roundRect">
            <a:avLst/>
          </a:prstGeom>
          <a:solidFill>
            <a:srgbClr val="9C27B0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</a:rPr>
              <a:t>Strict exact match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17350" y="5074141"/>
            <a:ext cx="2049976" cy="653082"/>
          </a:xfrm>
          <a:prstGeom prst="roundRect">
            <a:avLst/>
          </a:prstGeom>
          <a:solidFill>
            <a:srgbClr val="232323"/>
          </a:solidFill>
          <a:ln w="10160">
            <a:solidFill>
              <a:srgbClr val="24A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8900" rIns="88900" rtlCol="0" anchor="ctr"/>
          <a:lstStyle/>
          <a:p>
            <a:pPr algn="ctr"/>
            <a:r>
              <a:rPr sz="900" dirty="0">
                <a:solidFill>
                  <a:srgbClr val="FFFFFF"/>
                </a:solidFill>
              </a:rPr>
              <a:t>Full exact requires all 4 labels correct together; it is limited mainly by severity errors.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0238" y="4719803"/>
            <a:ext cx="2359248" cy="187652"/>
          </a:xfrm>
          <a:prstGeom prst="roundRect">
            <a:avLst/>
          </a:prstGeom>
          <a:solidFill>
            <a:srgbClr val="24A2D2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dirty="0"/>
              <a:t>LLM subset scope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18579" y="5074141"/>
            <a:ext cx="2559808" cy="663329"/>
          </a:xfrm>
          <a:prstGeom prst="roundRect">
            <a:avLst/>
          </a:prstGeom>
          <a:solidFill>
            <a:srgbClr val="232323"/>
          </a:solidFill>
          <a:ln w="10160">
            <a:solidFill>
              <a:srgbClr val="24A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8900" rIns="88900" rtlCol="0" anchor="ctr"/>
          <a:lstStyle/>
          <a:p>
            <a:r>
              <a:rPr sz="900" dirty="0"/>
              <a:t>LLM rows above are real API runs on n=30 (not the full 750). Valid JSON rate: 100% for both modes. </a:t>
            </a:r>
            <a:r>
              <a:rPr sz="900" dirty="0" err="1"/>
              <a:t>DistilRoBERTa</a:t>
            </a:r>
            <a:r>
              <a:rPr sz="900" dirty="0"/>
              <a:t> fine-tuned on n=300 train / n=75 test (CPU subset).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287" y="6453628"/>
            <a:ext cx="1003219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dirty="0" err="1">
                <a:solidFill>
                  <a:srgbClr val="BEC6CD"/>
                </a:solidFill>
              </a:rPr>
              <a:t>LogTriage</a:t>
            </a:r>
            <a:r>
              <a:rPr sz="800" dirty="0">
                <a:solidFill>
                  <a:srgbClr val="BEC6CD"/>
                </a:solidFill>
              </a:rPr>
              <a:t> - NLP Course Final Presentation</a:t>
            </a:r>
          </a:p>
        </p:txBody>
      </p:sp>
      <p:sp>
        <p:nvSpPr>
          <p:cNvPr id="15" name="Rounded Rectangle 6">
            <a:extLst>
              <a:ext uri="{FF2B5EF4-FFF2-40B4-BE49-F238E27FC236}">
                <a16:creationId xmlns:a16="http://schemas.microsoft.com/office/drawing/2014/main" id="{C4340FEC-70A6-AF2A-7CF8-05704FCE193A}"/>
              </a:ext>
            </a:extLst>
          </p:cNvPr>
          <p:cNvSpPr/>
          <p:nvPr/>
        </p:nvSpPr>
        <p:spPr>
          <a:xfrm>
            <a:off x="2957493" y="5943755"/>
            <a:ext cx="4136549" cy="720855"/>
          </a:xfrm>
          <a:prstGeom prst="roundRect">
            <a:avLst/>
          </a:prstGeom>
          <a:solidFill>
            <a:srgbClr val="232323"/>
          </a:solidFill>
          <a:ln w="10160">
            <a:solidFill>
              <a:srgbClr val="24A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8900" rIns="88900" rtlCol="0" anchor="ctr"/>
          <a:lstStyle/>
          <a:p>
            <a:r>
              <a:rPr sz="900" dirty="0"/>
              <a:t>Best local baseline (full n=750): TF-IDF SVM — 0.561 full exact. Best LLM (n=30): few-shot — 0.533. </a:t>
            </a:r>
            <a:r>
              <a:rPr sz="900" dirty="0" err="1"/>
              <a:t>DistilRoBERTa</a:t>
            </a:r>
            <a:r>
              <a:rPr sz="900" dirty="0"/>
              <a:t> (n=75): 0.067 full exact.</a:t>
            </a:r>
          </a:p>
        </p:txBody>
      </p:sp>
      <p:sp>
        <p:nvSpPr>
          <p:cNvPr id="16" name="Rounded Rectangle 5">
            <a:extLst>
              <a:ext uri="{FF2B5EF4-FFF2-40B4-BE49-F238E27FC236}">
                <a16:creationId xmlns:a16="http://schemas.microsoft.com/office/drawing/2014/main" id="{B06F33E6-CB3C-EDA4-686A-57DC1B6B4F51}"/>
              </a:ext>
            </a:extLst>
          </p:cNvPr>
          <p:cNvSpPr/>
          <p:nvPr/>
        </p:nvSpPr>
        <p:spPr>
          <a:xfrm>
            <a:off x="2957492" y="5892100"/>
            <a:ext cx="4136549" cy="182106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50" b="1" dirty="0">
                <a:solidFill>
                  <a:srgbClr val="FFFFFF"/>
                </a:solidFill>
              </a:rPr>
              <a:t>Note</a:t>
            </a:r>
            <a:endParaRPr sz="950" b="1" dirty="0">
              <a:solidFill>
                <a:srgbClr val="FFFFFF"/>
              </a:solidFill>
            </a:endParaRPr>
          </a:p>
        </p:txBody>
      </p:sp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A8584521-87B7-D38F-ED3B-6E5F6262BB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9647348"/>
              </p:ext>
            </p:extLst>
          </p:nvPr>
        </p:nvGraphicFramePr>
        <p:xfrm>
          <a:off x="502920" y="693734"/>
          <a:ext cx="6591123" cy="3911915"/>
        </p:xfrm>
        <a:graphic>
          <a:graphicData uri="http://schemas.openxmlformats.org/drawingml/2006/table">
            <a:tbl>
              <a:tblPr/>
              <a:tblGrid>
                <a:gridCol w="941589">
                  <a:extLst>
                    <a:ext uri="{9D8B030D-6E8A-4147-A177-3AD203B41FA5}">
                      <a16:colId xmlns:a16="http://schemas.microsoft.com/office/drawing/2014/main" val="2706729929"/>
                    </a:ext>
                  </a:extLst>
                </a:gridCol>
                <a:gridCol w="941589">
                  <a:extLst>
                    <a:ext uri="{9D8B030D-6E8A-4147-A177-3AD203B41FA5}">
                      <a16:colId xmlns:a16="http://schemas.microsoft.com/office/drawing/2014/main" val="1060933644"/>
                    </a:ext>
                  </a:extLst>
                </a:gridCol>
                <a:gridCol w="941589">
                  <a:extLst>
                    <a:ext uri="{9D8B030D-6E8A-4147-A177-3AD203B41FA5}">
                      <a16:colId xmlns:a16="http://schemas.microsoft.com/office/drawing/2014/main" val="4249078843"/>
                    </a:ext>
                  </a:extLst>
                </a:gridCol>
                <a:gridCol w="941589">
                  <a:extLst>
                    <a:ext uri="{9D8B030D-6E8A-4147-A177-3AD203B41FA5}">
                      <a16:colId xmlns:a16="http://schemas.microsoft.com/office/drawing/2014/main" val="2289600883"/>
                    </a:ext>
                  </a:extLst>
                </a:gridCol>
                <a:gridCol w="941589">
                  <a:extLst>
                    <a:ext uri="{9D8B030D-6E8A-4147-A177-3AD203B41FA5}">
                      <a16:colId xmlns:a16="http://schemas.microsoft.com/office/drawing/2014/main" val="3617558735"/>
                    </a:ext>
                  </a:extLst>
                </a:gridCol>
                <a:gridCol w="941589">
                  <a:extLst>
                    <a:ext uri="{9D8B030D-6E8A-4147-A177-3AD203B41FA5}">
                      <a16:colId xmlns:a16="http://schemas.microsoft.com/office/drawing/2014/main" val="1219144034"/>
                    </a:ext>
                  </a:extLst>
                </a:gridCol>
                <a:gridCol w="941589">
                  <a:extLst>
                    <a:ext uri="{9D8B030D-6E8A-4147-A177-3AD203B41FA5}">
                      <a16:colId xmlns:a16="http://schemas.microsoft.com/office/drawing/2014/main" val="830031142"/>
                    </a:ext>
                  </a:extLst>
                </a:gridCol>
              </a:tblGrid>
              <a:tr h="242252">
                <a:tc>
                  <a:txBody>
                    <a:bodyPr/>
                    <a:lstStyle/>
                    <a:p>
                      <a:r>
                        <a:rPr sz="1200" dirty="0"/>
                        <a:t>Model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A2D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Cause F1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A2D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Service F1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A2D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Severity F1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A2D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Action F1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A2D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Full exact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A2D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Evidence F1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A2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4396831"/>
                  </a:ext>
                </a:extLst>
              </a:tr>
              <a:tr h="394781">
                <a:tc>
                  <a:txBody>
                    <a:bodyPr/>
                    <a:lstStyle/>
                    <a:p>
                      <a:r>
                        <a:rPr sz="1200" dirty="0"/>
                        <a:t>Majority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0.018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/>
                        <a:t>0.066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0.148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0.018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0.822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15602"/>
                  </a:ext>
                </a:extLst>
              </a:tr>
              <a:tr h="197390">
                <a:tc>
                  <a:txBody>
                    <a:bodyPr/>
                    <a:lstStyle/>
                    <a:p>
                      <a:r>
                        <a:rPr sz="1200"/>
                        <a:t>Rules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0.804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0.253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/>
                        <a:t>0.481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0.804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0.175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0.861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1507527"/>
                  </a:ext>
                </a:extLst>
              </a:tr>
              <a:tr h="385808">
                <a:tc>
                  <a:txBody>
                    <a:bodyPr/>
                    <a:lstStyle/>
                    <a:p>
                      <a:r>
                        <a:rPr sz="1200"/>
                        <a:t>TF-IDF LogReg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0.585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/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0.545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0.886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2743529"/>
                  </a:ext>
                </a:extLst>
              </a:tr>
              <a:tr h="385808">
                <a:tc>
                  <a:txBody>
                    <a:bodyPr/>
                    <a:lstStyle/>
                    <a:p>
                      <a:r>
                        <a:rPr sz="1200"/>
                        <a:t>TF-IDF SVM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0.64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/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0.561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0.886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751671"/>
                  </a:ext>
                </a:extLst>
              </a:tr>
              <a:tr h="385808">
                <a:tc>
                  <a:txBody>
                    <a:bodyPr/>
                    <a:lstStyle/>
                    <a:p>
                      <a:r>
                        <a:rPr sz="1200"/>
                        <a:t>TF-IDF NB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0.421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/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/>
                        <a:t>0.492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0.886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8610970"/>
                  </a:ext>
                </a:extLst>
              </a:tr>
              <a:tr h="385808">
                <a:tc>
                  <a:txBody>
                    <a:bodyPr/>
                    <a:lstStyle/>
                    <a:p>
                      <a:r>
                        <a:rPr sz="1200"/>
                        <a:t>Char SVM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0.607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/>
                        <a:t>0.556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0.886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671075"/>
                  </a:ext>
                </a:extLst>
              </a:tr>
              <a:tr h="574226">
                <a:tc>
                  <a:txBody>
                    <a:bodyPr/>
                    <a:lstStyle/>
                    <a:p>
                      <a:r>
                        <a:rPr sz="1200"/>
                        <a:t>LLM zero-shot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0.734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0.441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/>
                        <a:t>0.3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0.942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4856395"/>
                  </a:ext>
                </a:extLst>
              </a:tr>
              <a:tr h="574226">
                <a:tc>
                  <a:txBody>
                    <a:bodyPr/>
                    <a:lstStyle/>
                    <a:p>
                      <a:r>
                        <a:rPr sz="1200"/>
                        <a:t>LLM few-shot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0.643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0.533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/>
                        <a:t>0.99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7155046"/>
                  </a:ext>
                </a:extLst>
              </a:tr>
              <a:tr h="385808">
                <a:tc>
                  <a:txBody>
                    <a:bodyPr/>
                    <a:lstStyle/>
                    <a:p>
                      <a:r>
                        <a:rPr sz="1200"/>
                        <a:t>DistilRoBERTa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0.704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0.186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0.129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0.75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0.067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/>
                        <a:t>0.877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989256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2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Robustness by noise level (TF-IDF SVM)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Best model performance on the same held-out test split, grouped by low / medium / high noise.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5325211"/>
              </p:ext>
            </p:extLst>
          </p:nvPr>
        </p:nvGraphicFramePr>
        <p:xfrm>
          <a:off x="685800" y="1508760"/>
          <a:ext cx="5486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r>
                        <a:t>Noise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Severity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Full exact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0.569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5087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t>Interpretation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92807"/>
            <a:ext cx="5029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solidFill>
                  <a:schemeClr val="bg2"/>
                </a:solidFill>
              </a:rPr>
              <a:t>• Cause, service, and action stay at 1.000 macro-F1 across all noise levels.</a:t>
            </a:r>
          </a:p>
          <a:p>
            <a:r>
              <a:rPr dirty="0">
                <a:solidFill>
                  <a:schemeClr val="bg2"/>
                </a:solidFill>
              </a:rPr>
              <a:t>• Severity F1 is stable (~0.632–0.645) but remains the bottleneck.</a:t>
            </a:r>
          </a:p>
          <a:p>
            <a:r>
              <a:rPr dirty="0">
                <a:solidFill>
                  <a:schemeClr val="bg2"/>
                </a:solidFill>
              </a:rPr>
              <a:t>• Full exact match stays near 56% — severity errors dominate end-to-end success.</a:t>
            </a:r>
          </a:p>
        </p:txBody>
      </p:sp>
      <p:pic>
        <p:nvPicPr>
          <p:cNvPr id="7" name="Picture 6" descr="nois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977639"/>
            <a:ext cx="5029200" cy="2514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6446520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94A3B8"/>
                </a:solidFill>
              </a:defRPr>
            </a:pPr>
            <a:r>
              <a:t>LogTriage - NLP Course Final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94A3B8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5505482" cy="369332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dirty="0">
                <a:solidFill>
                  <a:schemeClr val="bg1"/>
                </a:solidFill>
              </a:rPr>
              <a:t>Detailed results: label accuracies and evidence metrics</a:t>
            </a:r>
          </a:p>
        </p:txBody>
      </p:sp>
      <p:pic>
        <p:nvPicPr>
          <p:cNvPr id="5" name="Picture 4" descr="severity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625364"/>
            <a:ext cx="2194560" cy="1843120"/>
          </a:xfrm>
          <a:prstGeom prst="rect">
            <a:avLst/>
          </a:prstGeom>
        </p:spPr>
      </p:pic>
      <p:pic>
        <p:nvPicPr>
          <p:cNvPr id="6" name="Picture 5" descr="noise_robustn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8360" y="625364"/>
            <a:ext cx="2057400" cy="1828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4711344"/>
            <a:ext cx="2331473" cy="284366"/>
          </a:xfrm>
          <a:prstGeom prst="roundRect">
            <a:avLst/>
          </a:prstGeom>
          <a:solidFill>
            <a:srgbClr val="24A2D2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</a:rPr>
              <a:t>What the real test shows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7104"/>
            <a:ext cx="2331473" cy="823165"/>
          </a:xfrm>
          <a:prstGeom prst="roundRect">
            <a:avLst/>
          </a:prstGeom>
          <a:solidFill>
            <a:srgbClr val="232323"/>
          </a:solidFill>
          <a:ln w="10160">
            <a:solidFill>
              <a:srgbClr val="24A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8900" rIns="88900" rtlCol="0" anchor="ctr"/>
          <a:lstStyle/>
          <a:p>
            <a:pPr algn="ctr"/>
            <a:r>
              <a:rPr sz="900">
                <a:solidFill>
                  <a:srgbClr val="FFFFFF"/>
                </a:solidFill>
              </a:rPr>
              <a:t>Cause/service/action are almost perfectly learnable by TF-IDF, which is useful but also signals possible lexical shortcuts in the synthetic data.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78967" y="4716520"/>
            <a:ext cx="2331473" cy="284366"/>
          </a:xfrm>
          <a:prstGeom prst="roundRect">
            <a:avLst/>
          </a:prstGeom>
          <a:solidFill>
            <a:srgbClr val="EF6E2E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</a:rPr>
              <a:t>Severity confusion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78967" y="5082280"/>
            <a:ext cx="2331473" cy="823165"/>
          </a:xfrm>
          <a:prstGeom prst="roundRect">
            <a:avLst/>
          </a:prstGeom>
          <a:solidFill>
            <a:srgbClr val="232323"/>
          </a:solidFill>
          <a:ln w="10160">
            <a:solidFill>
              <a:srgbClr val="24A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8900" rIns="88900" rtlCol="0" anchor="ctr"/>
          <a:lstStyle/>
          <a:p>
            <a:pPr algn="ctr"/>
            <a:r>
              <a:rPr sz="900">
                <a:solidFill>
                  <a:srgbClr val="FFFFFF"/>
                </a:solidFill>
              </a:rPr>
              <a:t>Most mistakes are high/critical/medium shifts. Low severity is easy; impact level needs better generation rules and harder examples.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96487" y="4716520"/>
            <a:ext cx="2331473" cy="284366"/>
          </a:xfrm>
          <a:prstGeom prst="roundRect">
            <a:avLst/>
          </a:prstGeom>
          <a:solidFill>
            <a:srgbClr val="9C27B0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</a:rPr>
              <a:t>Evidence-line metric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96487" y="5082280"/>
            <a:ext cx="2331473" cy="823165"/>
          </a:xfrm>
          <a:prstGeom prst="roundRect">
            <a:avLst/>
          </a:prstGeom>
          <a:solidFill>
            <a:srgbClr val="232323"/>
          </a:solidFill>
          <a:ln w="10160">
            <a:solidFill>
              <a:srgbClr val="24A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8900" rIns="88900" rtlCol="0" anchor="ctr"/>
          <a:lstStyle/>
          <a:p>
            <a:r>
              <a:rPr sz="900" dirty="0"/>
              <a:t>Evidence F1 compares selected log line numbers vs. gold evidence lines. The shared heuristic reaches ~0.86–0.89 F1; future work should train a dedicated line-level evidence model.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14007" y="4716520"/>
            <a:ext cx="1709747" cy="284366"/>
          </a:xfrm>
          <a:prstGeom prst="roundRect">
            <a:avLst/>
          </a:prstGeom>
          <a:solidFill>
            <a:srgbClr val="1E8239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</a:rPr>
              <a:t>Next data fix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14007" y="5082280"/>
            <a:ext cx="1709747" cy="823165"/>
          </a:xfrm>
          <a:prstGeom prst="roundRect">
            <a:avLst/>
          </a:prstGeom>
          <a:solidFill>
            <a:srgbClr val="232323"/>
          </a:solidFill>
          <a:ln w="10160">
            <a:solidFill>
              <a:srgbClr val="24A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8900" rIns="88900" rtlCol="0" anchor="ctr"/>
          <a:lstStyle/>
          <a:p>
            <a:r>
              <a:rPr sz="900" dirty="0">
                <a:solidFill>
                  <a:schemeClr val="bg2"/>
                </a:solidFill>
              </a:rPr>
              <a:t>Label leakage was detected and fixed (500 sessions); validation pipeline added. Future: more paraphrases and misleading-noise cases.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30936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BEC6CD"/>
                </a:solidFill>
              </a:rPr>
              <a:t>LogTriage - NLP Course Final Presentation</a:t>
            </a:r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912290EB-6180-2E91-6D3D-61FF64795A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1707935"/>
              </p:ext>
            </p:extLst>
          </p:nvPr>
        </p:nvGraphicFramePr>
        <p:xfrm>
          <a:off x="502920" y="637320"/>
          <a:ext cx="6949440" cy="3828923"/>
        </p:xfrm>
        <a:graphic>
          <a:graphicData uri="http://schemas.openxmlformats.org/drawingml/2006/table">
            <a:tbl>
              <a:tblPr/>
              <a:tblGrid>
                <a:gridCol w="1158240">
                  <a:extLst>
                    <a:ext uri="{9D8B030D-6E8A-4147-A177-3AD203B41FA5}">
                      <a16:colId xmlns:a16="http://schemas.microsoft.com/office/drawing/2014/main" val="1439385222"/>
                    </a:ext>
                  </a:extLst>
                </a:gridCol>
                <a:gridCol w="1158240">
                  <a:extLst>
                    <a:ext uri="{9D8B030D-6E8A-4147-A177-3AD203B41FA5}">
                      <a16:colId xmlns:a16="http://schemas.microsoft.com/office/drawing/2014/main" val="1399285547"/>
                    </a:ext>
                  </a:extLst>
                </a:gridCol>
                <a:gridCol w="1158240">
                  <a:extLst>
                    <a:ext uri="{9D8B030D-6E8A-4147-A177-3AD203B41FA5}">
                      <a16:colId xmlns:a16="http://schemas.microsoft.com/office/drawing/2014/main" val="173493457"/>
                    </a:ext>
                  </a:extLst>
                </a:gridCol>
                <a:gridCol w="1158240">
                  <a:extLst>
                    <a:ext uri="{9D8B030D-6E8A-4147-A177-3AD203B41FA5}">
                      <a16:colId xmlns:a16="http://schemas.microsoft.com/office/drawing/2014/main" val="3048202932"/>
                    </a:ext>
                  </a:extLst>
                </a:gridCol>
                <a:gridCol w="1158240">
                  <a:extLst>
                    <a:ext uri="{9D8B030D-6E8A-4147-A177-3AD203B41FA5}">
                      <a16:colId xmlns:a16="http://schemas.microsoft.com/office/drawing/2014/main" val="1691833924"/>
                    </a:ext>
                  </a:extLst>
                </a:gridCol>
                <a:gridCol w="1158240">
                  <a:extLst>
                    <a:ext uri="{9D8B030D-6E8A-4147-A177-3AD203B41FA5}">
                      <a16:colId xmlns:a16="http://schemas.microsoft.com/office/drawing/2014/main" val="3944981934"/>
                    </a:ext>
                  </a:extLst>
                </a:gridCol>
              </a:tblGrid>
              <a:tr h="382295">
                <a:tc>
                  <a:txBody>
                    <a:bodyPr/>
                    <a:lstStyle/>
                    <a:p>
                      <a:r>
                        <a:rPr sz="1200" dirty="0"/>
                        <a:t>Model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23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Cause Acc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23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Service Acc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23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Severity Acc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23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Action Acc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23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Evidence P/R/F1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2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1738403"/>
                  </a:ext>
                </a:extLst>
              </a:tr>
              <a:tr h="388268">
                <a:tc>
                  <a:txBody>
                    <a:bodyPr/>
                    <a:lstStyle/>
                    <a:p>
                      <a:r>
                        <a:rPr sz="1200"/>
                        <a:t>Majority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0.1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/>
                        <a:t>0.3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0.421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0.1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0.767/0.886/0.822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8507668"/>
                  </a:ext>
                </a:extLst>
              </a:tr>
              <a:tr h="382295">
                <a:tc>
                  <a:txBody>
                    <a:bodyPr/>
                    <a:lstStyle/>
                    <a:p>
                      <a:r>
                        <a:rPr sz="1200"/>
                        <a:t>Rules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0.825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0.412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/>
                        <a:t>0.453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0.825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0.795/0.941/0.861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0742993"/>
                  </a:ext>
                </a:extLst>
              </a:tr>
              <a:tr h="382295">
                <a:tc>
                  <a:txBody>
                    <a:bodyPr/>
                    <a:lstStyle/>
                    <a:p>
                      <a:r>
                        <a:rPr sz="1200"/>
                        <a:t>TF-IDF LogReg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0.545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/>
                        <a:t>1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0.838/0.940/0.886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3693420"/>
                  </a:ext>
                </a:extLst>
              </a:tr>
              <a:tr h="382295">
                <a:tc>
                  <a:txBody>
                    <a:bodyPr/>
                    <a:lstStyle/>
                    <a:p>
                      <a:r>
                        <a:rPr sz="1200"/>
                        <a:t>TF-IDF SVM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0.561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/>
                        <a:t>1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0.838/0.940/0.886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7417195"/>
                  </a:ext>
                </a:extLst>
              </a:tr>
              <a:tr h="382295">
                <a:tc>
                  <a:txBody>
                    <a:bodyPr/>
                    <a:lstStyle/>
                    <a:p>
                      <a:r>
                        <a:rPr sz="1200"/>
                        <a:t>TF-IDF NB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0.492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/>
                        <a:t>0.838/0.940/0.886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8175963"/>
                  </a:ext>
                </a:extLst>
              </a:tr>
              <a:tr h="382295">
                <a:tc>
                  <a:txBody>
                    <a:bodyPr/>
                    <a:lstStyle/>
                    <a:p>
                      <a:r>
                        <a:rPr sz="1200"/>
                        <a:t>Char SVM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0.556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/>
                        <a:t>0.838/0.940/0.886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3263912"/>
                  </a:ext>
                </a:extLst>
              </a:tr>
              <a:tr h="382295">
                <a:tc>
                  <a:txBody>
                    <a:bodyPr/>
                    <a:lstStyle/>
                    <a:p>
                      <a:r>
                        <a:rPr sz="1200"/>
                        <a:t>LLM zero-shot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0.8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0.367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/>
                        <a:t>0.989/0.900/0.942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5768053"/>
                  </a:ext>
                </a:extLst>
              </a:tr>
              <a:tr h="382295">
                <a:tc>
                  <a:txBody>
                    <a:bodyPr/>
                    <a:lstStyle/>
                    <a:p>
                      <a:r>
                        <a:rPr sz="1200"/>
                        <a:t>LLM few-shot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0.533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/>
                        <a:t>0.990/0.990/0.990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9528784"/>
                  </a:ext>
                </a:extLst>
              </a:tr>
              <a:tr h="382295">
                <a:tc>
                  <a:txBody>
                    <a:bodyPr/>
                    <a:lstStyle/>
                    <a:p>
                      <a:r>
                        <a:rPr sz="1200"/>
                        <a:t>DistilRoBERTa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0.72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0.453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0.347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0.747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/>
                        <a:t>0.817/0.947/0.877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26293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52359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2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Error analysis categories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Patterns from real test-set predictions across all six baselines.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5212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rPr>
                <a:solidFill>
                  <a:schemeClr val="bg1"/>
                </a:solidFill>
              </a:rPr>
              <a:t>1. Severity confusion (all models)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01368"/>
            <a:ext cx="52120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E8EEF8"/>
                </a:solidFill>
              </a:defRPr>
            </a:pPr>
            <a:r>
              <a:rPr>
                <a:solidFill>
                  <a:schemeClr val="bg1"/>
                </a:solidFill>
              </a:rPr>
              <a:t>• Most full-exact failures come from high / critical / medium mislabels.</a:t>
            </a:r>
          </a:p>
          <a:p>
            <a:r>
              <a:rPr>
                <a:solidFill>
                  <a:schemeClr val="bg1"/>
                </a:solidFill>
              </a:rPr>
              <a:t>• Low severity is easiest; impact level needs richer context in generation.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1417320"/>
            <a:ext cx="53035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rPr>
                <a:solidFill>
                  <a:schemeClr val="bg1"/>
                </a:solidFill>
              </a:rPr>
              <a:t>2. Service misclassification (rules)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801368"/>
            <a:ext cx="53035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E8EEF8"/>
                </a:solidFill>
              </a:defRPr>
            </a:pPr>
            <a:r>
              <a:rPr>
                <a:solidFill>
                  <a:schemeClr val="bg1"/>
                </a:solidFill>
              </a:rPr>
              <a:t>• Keyword rules reach ~0.80 cause F1 but only ~0.25 service F1.</a:t>
            </a:r>
          </a:p>
          <a:p>
            <a:r>
              <a:rPr>
                <a:solidFill>
                  <a:schemeClr val="bg1"/>
                </a:solidFill>
              </a:rPr>
              <a:t>• Rules count service mentions instead of identifying the failing component.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246120"/>
            <a:ext cx="5212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rPr>
                <a:solidFill>
                  <a:schemeClr val="bg1"/>
                </a:solidFill>
              </a:rPr>
              <a:t>3. Lexical shortcut success (TF-IDF)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630168"/>
            <a:ext cx="521208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E8EEF8"/>
                </a:solidFill>
              </a:defRPr>
            </a:pPr>
            <a:r>
              <a:rPr>
                <a:solidFill>
                  <a:schemeClr val="bg1"/>
                </a:solidFill>
              </a:rPr>
              <a:t>• Near-perfect cause/service/action F1 suggests strong keyword cues in synthetic logs.</a:t>
            </a:r>
          </a:p>
          <a:p>
            <a:r>
              <a:rPr>
                <a:solidFill>
                  <a:schemeClr val="bg1"/>
                </a:solidFill>
              </a:rPr>
              <a:t>• Motivates harder generation: paraphrases, misleading symptoms, weaker label leakage.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3246120"/>
            <a:ext cx="53035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rPr>
                <a:solidFill>
                  <a:schemeClr val="bg1"/>
                </a:solidFill>
              </a:rPr>
              <a:t>4. Evidence-line heuristic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3630168"/>
            <a:ext cx="53035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E8EEF8"/>
                </a:solidFill>
              </a:defRPr>
            </a:pPr>
            <a:r>
              <a:rPr dirty="0">
                <a:solidFill>
                  <a:schemeClr val="bg1"/>
                </a:solidFill>
              </a:rPr>
              <a:t>• Shared heuristic reaches ~0.86–0.89 F1 across models.</a:t>
            </a:r>
          </a:p>
          <a:p>
            <a:r>
              <a:rPr dirty="0">
                <a:solidFill>
                  <a:schemeClr val="bg1"/>
                </a:solidFill>
              </a:rPr>
              <a:t>• Future work: train a dedicated line-level evidence selector.</a:t>
            </a:r>
          </a:p>
        </p:txBody>
      </p:sp>
      <p:pic>
        <p:nvPicPr>
          <p:cNvPr id="12" name="Picture 11" descr="severity_confusion_tf_idf_sv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7706" y="4506659"/>
            <a:ext cx="2725225" cy="21801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1480" y="6446520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94A3B8"/>
                </a:solidFill>
              </a:defRPr>
            </a:pPr>
            <a:r>
              <a:t>LogTriage - NLP Course Final Presentation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94A3B8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50292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dirty="0">
                <a:solidFill>
                  <a:schemeClr val="bg1"/>
                </a:solidFill>
              </a:rPr>
              <a:t>Conclusion</a:t>
            </a:r>
          </a:p>
        </p:txBody>
      </p:sp>
      <p:sp>
        <p:nvSpPr>
          <p:cNvPr id="5" name="Shape 3"/>
          <p:cNvSpPr/>
          <p:nvPr/>
        </p:nvSpPr>
        <p:spPr>
          <a:xfrm>
            <a:off x="594360" y="1051560"/>
            <a:ext cx="3657600" cy="5166360"/>
          </a:xfrm>
          <a:prstGeom prst="roundRect">
            <a:avLst>
              <a:gd name="adj" fmla="val 3000"/>
            </a:avLst>
          </a:prstGeom>
          <a:solidFill>
            <a:srgbClr val="0E1B2A"/>
          </a:solidFill>
          <a:ln w="12700">
            <a:solidFill>
              <a:srgbClr val="2445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68680" y="1280160"/>
            <a:ext cx="306324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 fontScale="85000" lnSpcReduction="10000"/>
          </a:bodyPr>
          <a:lstStyle/>
          <a:p>
            <a:r>
              <a:rPr>
                <a:solidFill>
                  <a:schemeClr val="bg1"/>
                </a:solidFill>
              </a:rPr>
              <a:t>Did we achieve the desired result?</a:t>
            </a:r>
          </a:p>
        </p:txBody>
      </p:sp>
      <p:sp>
        <p:nvSpPr>
          <p:cNvPr id="7" name="Text 5"/>
          <p:cNvSpPr/>
          <p:nvPr/>
        </p:nvSpPr>
        <p:spPr>
          <a:xfrm>
            <a:off x="868680" y="1783080"/>
            <a:ext cx="2971800" cy="1508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77500" lnSpcReduction="20000"/>
          </a:bodyPr>
          <a:lstStyle/>
          <a:p>
            <a:r>
              <a:rPr>
                <a:solidFill>
                  <a:schemeClr val="bg1"/>
                </a:solidFill>
              </a:rPr>
              <a:t>Yes: the project demonstrates a full NLP pipeline for explainable log triage.</a:t>
            </a:r>
          </a:p>
          <a:p>
            <a:r>
              <a:rPr>
                <a:solidFill>
                  <a:schemeClr val="bg1"/>
                </a:solidFill>
              </a:rPr>
              <a:t>The package includes synthetic data, validation, EDA, baselines, metrics, visuals, report, prompts, and code.</a:t>
            </a:r>
          </a:p>
          <a:p>
            <a:r>
              <a:rPr>
                <a:solidFill>
                  <a:schemeClr val="bg1"/>
                </a:solidFill>
              </a:rPr>
              <a:t>The results show that structured triage is feasible on controlled synthetic logs.</a:t>
            </a:r>
          </a:p>
        </p:txBody>
      </p:sp>
      <p:sp>
        <p:nvSpPr>
          <p:cNvPr id="8" name="Shape 6"/>
          <p:cNvSpPr/>
          <p:nvPr/>
        </p:nvSpPr>
        <p:spPr>
          <a:xfrm>
            <a:off x="868680" y="3794760"/>
            <a:ext cx="2834640" cy="1143000"/>
          </a:xfrm>
          <a:prstGeom prst="roundRect">
            <a:avLst>
              <a:gd name="adj" fmla="val 9600"/>
            </a:avLst>
          </a:prstGeom>
          <a:solidFill>
            <a:srgbClr val="0B2335"/>
          </a:solidFill>
          <a:ln w="12700">
            <a:solidFill>
              <a:srgbClr val="1E4563"/>
            </a:solidFill>
            <a:prstDash val="solid"/>
          </a:ln>
        </p:spPr>
        <p:txBody>
          <a:bodyPr/>
          <a:lstStyle/>
          <a:p>
            <a:endParaRPr>
              <a:solidFill>
                <a:schemeClr val="bg1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1051560" y="3950208"/>
            <a:ext cx="22860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 fontScale="85000" lnSpcReduction="20000"/>
          </a:bodyPr>
          <a:lstStyle/>
          <a:p>
            <a:r>
              <a:rPr>
                <a:solidFill>
                  <a:schemeClr val="bg1"/>
                </a:solidFill>
              </a:rPr>
              <a:t>Main takeaway</a:t>
            </a:r>
          </a:p>
        </p:txBody>
      </p:sp>
      <p:sp>
        <p:nvSpPr>
          <p:cNvPr id="10" name="Text 8"/>
          <p:cNvSpPr/>
          <p:nvPr/>
        </p:nvSpPr>
        <p:spPr>
          <a:xfrm>
            <a:off x="1051560" y="4251960"/>
            <a:ext cx="233172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 fontScale="62500" lnSpcReduction="20000"/>
          </a:bodyPr>
          <a:lstStyle/>
          <a:p>
            <a:r>
              <a:rPr>
                <a:solidFill>
                  <a:schemeClr val="bg1"/>
                </a:solidFill>
              </a:rPr>
              <a:t>LogTriage converts noisy logs into operator-ready decisions with evidence.</a:t>
            </a:r>
          </a:p>
        </p:txBody>
      </p:sp>
      <p:sp>
        <p:nvSpPr>
          <p:cNvPr id="11" name="Shape 9"/>
          <p:cNvSpPr/>
          <p:nvPr/>
        </p:nvSpPr>
        <p:spPr>
          <a:xfrm>
            <a:off x="4480560" y="1051560"/>
            <a:ext cx="3291840" cy="5166360"/>
          </a:xfrm>
          <a:prstGeom prst="roundRect">
            <a:avLst>
              <a:gd name="adj" fmla="val 3333"/>
            </a:avLst>
          </a:prstGeom>
          <a:solidFill>
            <a:srgbClr val="10263A"/>
          </a:solidFill>
          <a:ln w="12700">
            <a:solidFill>
              <a:srgbClr val="2445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4754880" y="1280160"/>
            <a:ext cx="21945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r>
              <a:rPr>
                <a:solidFill>
                  <a:schemeClr val="bg1"/>
                </a:solidFill>
              </a:rPr>
              <a:t>What we learned</a:t>
            </a:r>
          </a:p>
        </p:txBody>
      </p:sp>
      <p:sp>
        <p:nvSpPr>
          <p:cNvPr id="13" name="Text 11"/>
          <p:cNvSpPr/>
          <p:nvPr/>
        </p:nvSpPr>
        <p:spPr>
          <a:xfrm>
            <a:off x="4754880" y="1783080"/>
            <a:ext cx="260604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77500" lnSpcReduction="20000"/>
          </a:bodyPr>
          <a:lstStyle/>
          <a:p>
            <a:r>
              <a:rPr>
                <a:solidFill>
                  <a:schemeClr val="bg1"/>
                </a:solidFill>
              </a:rPr>
              <a:t>Fixed taxonomies are essential; free-form actions are hard to evaluate.</a:t>
            </a:r>
          </a:p>
          <a:p>
            <a:r>
              <a:rPr>
                <a:solidFill>
                  <a:schemeClr val="bg1"/>
                </a:solidFill>
              </a:rPr>
              <a:t>Synthetic data must be validated because LLM labels may be inconsistent.</a:t>
            </a:r>
          </a:p>
          <a:p>
            <a:r>
              <a:rPr>
                <a:solidFill>
                  <a:schemeClr val="bg1"/>
                </a:solidFill>
              </a:rPr>
              <a:t>High model scores can indicate useful patterns, but also possible lexical shortcuts.</a:t>
            </a:r>
          </a:p>
          <a:p>
            <a:r>
              <a:rPr>
                <a:solidFill>
                  <a:schemeClr val="bg1"/>
                </a:solidFill>
              </a:rPr>
              <a:t>Evidence-line metrics are important for explainability and debugging.</a:t>
            </a:r>
          </a:p>
        </p:txBody>
      </p:sp>
      <p:sp>
        <p:nvSpPr>
          <p:cNvPr id="14" name="Shape 12"/>
          <p:cNvSpPr/>
          <p:nvPr/>
        </p:nvSpPr>
        <p:spPr>
          <a:xfrm>
            <a:off x="4754880" y="4370832"/>
            <a:ext cx="2606040" cy="914400"/>
          </a:xfrm>
          <a:prstGeom prst="roundRect">
            <a:avLst>
              <a:gd name="adj" fmla="val 12000"/>
            </a:avLst>
          </a:prstGeom>
          <a:solidFill>
            <a:srgbClr val="07331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>
              <a:solidFill>
                <a:schemeClr val="bg1"/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4983480" y="4507992"/>
            <a:ext cx="21488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 fontScale="85000" lnSpcReduction="20000"/>
          </a:bodyPr>
          <a:lstStyle/>
          <a:p>
            <a:r>
              <a:rPr>
                <a:solidFill>
                  <a:schemeClr val="bg1"/>
                </a:solidFill>
              </a:rPr>
              <a:t>Scope choice</a:t>
            </a:r>
          </a:p>
        </p:txBody>
      </p:sp>
      <p:sp>
        <p:nvSpPr>
          <p:cNvPr id="16" name="Text 14"/>
          <p:cNvSpPr/>
          <p:nvPr/>
        </p:nvSpPr>
        <p:spPr>
          <a:xfrm>
            <a:off x="4983480" y="4800600"/>
            <a:ext cx="205740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 fontScale="40000" lnSpcReduction="20000"/>
          </a:bodyPr>
          <a:lstStyle/>
          <a:p>
            <a:r>
              <a:rPr>
                <a:solidFill>
                  <a:schemeClr val="bg1"/>
                </a:solidFill>
              </a:rPr>
              <a:t>E-commerce was chosen for clarity; the method can adapt to SaaS, banking, delivery, or cloud logs.</a:t>
            </a:r>
          </a:p>
        </p:txBody>
      </p:sp>
      <p:sp>
        <p:nvSpPr>
          <p:cNvPr id="17" name="Shape 15"/>
          <p:cNvSpPr/>
          <p:nvPr/>
        </p:nvSpPr>
        <p:spPr>
          <a:xfrm>
            <a:off x="8001000" y="1051560"/>
            <a:ext cx="3611880" cy="5166360"/>
          </a:xfrm>
          <a:prstGeom prst="roundRect">
            <a:avLst>
              <a:gd name="adj" fmla="val 3038"/>
            </a:avLst>
          </a:prstGeom>
          <a:solidFill>
            <a:srgbClr val="0E1B2A"/>
          </a:solidFill>
          <a:ln w="12700">
            <a:solidFill>
              <a:srgbClr val="2445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8275320" y="1280160"/>
            <a:ext cx="21945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r>
              <a:rPr>
                <a:solidFill>
                  <a:schemeClr val="bg1"/>
                </a:solidFill>
              </a:rPr>
              <a:t>Future work</a:t>
            </a:r>
          </a:p>
        </p:txBody>
      </p:sp>
      <p:sp>
        <p:nvSpPr>
          <p:cNvPr id="19" name="Text 17"/>
          <p:cNvSpPr/>
          <p:nvPr/>
        </p:nvSpPr>
        <p:spPr>
          <a:xfrm>
            <a:off x="8275320" y="1783080"/>
            <a:ext cx="274320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70000" lnSpcReduction="20000"/>
          </a:bodyPr>
          <a:lstStyle/>
          <a:p>
            <a:r>
              <a:rPr dirty="0">
                <a:solidFill>
                  <a:schemeClr val="bg1"/>
                </a:solidFill>
              </a:rPr>
              <a:t>LLM zero/few-shot evaluated on n=30 with gpt-4o-mini; scale to full test set when budget allows.</a:t>
            </a:r>
          </a:p>
          <a:p>
            <a:r>
              <a:rPr dirty="0" err="1">
                <a:solidFill>
                  <a:schemeClr val="bg1"/>
                </a:solidFill>
              </a:rPr>
              <a:t>DistilRoBERTa</a:t>
            </a:r>
            <a:r>
              <a:rPr dirty="0">
                <a:solidFill>
                  <a:schemeClr val="bg1"/>
                </a:solidFill>
              </a:rPr>
              <a:t> evaluated on n=75 test subset; scale to full data for stronger comparison.</a:t>
            </a:r>
          </a:p>
          <a:p>
            <a:r>
              <a:rPr dirty="0">
                <a:solidFill>
                  <a:schemeClr val="bg1"/>
                </a:solidFill>
              </a:rPr>
              <a:t>Add harder examples with misleading noise and weaker keyword cues.</a:t>
            </a:r>
          </a:p>
          <a:p>
            <a:r>
              <a:rPr dirty="0">
                <a:solidFill>
                  <a:schemeClr val="bg1"/>
                </a:solidFill>
              </a:rPr>
              <a:t>Manually review a gold subset and test on real anonymized logs.</a:t>
            </a:r>
          </a:p>
        </p:txBody>
      </p:sp>
      <p:sp>
        <p:nvSpPr>
          <p:cNvPr id="20" name="Text 18"/>
          <p:cNvSpPr/>
          <p:nvPr/>
        </p:nvSpPr>
        <p:spPr>
          <a:xfrm>
            <a:off x="8275320" y="4069080"/>
            <a:ext cx="265176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 fontScale="92500" lnSpcReduction="20000"/>
          </a:bodyPr>
          <a:lstStyle/>
          <a:p>
            <a:r>
              <a:rPr>
                <a:solidFill>
                  <a:schemeClr val="bg1"/>
                </a:solidFill>
              </a:rPr>
              <a:t>Final repository artifacts</a:t>
            </a:r>
          </a:p>
        </p:txBody>
      </p:sp>
      <p:sp>
        <p:nvSpPr>
          <p:cNvPr id="21" name="Text 19"/>
          <p:cNvSpPr/>
          <p:nvPr/>
        </p:nvSpPr>
        <p:spPr>
          <a:xfrm>
            <a:off x="8275320" y="4434840"/>
            <a:ext cx="137160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70000" lnSpcReduction="20000"/>
          </a:bodyPr>
          <a:lstStyle/>
          <a:p>
            <a:r>
              <a:rPr>
                <a:solidFill>
                  <a:schemeClr val="bg1"/>
                </a:solidFill>
              </a:rPr>
              <a:t>data/</a:t>
            </a:r>
          </a:p>
          <a:p>
            <a:r>
              <a:rPr>
                <a:solidFill>
                  <a:schemeClr val="bg1"/>
                </a:solidFill>
              </a:rPr>
              <a:t>src/</a:t>
            </a:r>
          </a:p>
          <a:p>
            <a:r>
              <a:rPr>
                <a:solidFill>
                  <a:schemeClr val="bg1"/>
                </a:solidFill>
              </a:rPr>
              <a:t>prompts/</a:t>
            </a:r>
          </a:p>
          <a:p>
            <a:r>
              <a:rPr>
                <a:solidFill>
                  <a:schemeClr val="bg1"/>
                </a:solidFill>
              </a:rPr>
              <a:t>results/</a:t>
            </a:r>
          </a:p>
          <a:p>
            <a:r>
              <a:rPr>
                <a:solidFill>
                  <a:schemeClr val="bg1"/>
                </a:solidFill>
              </a:rPr>
              <a:t>visuals/</a:t>
            </a:r>
          </a:p>
          <a:p>
            <a:r>
              <a:rPr>
                <a:solidFill>
                  <a:schemeClr val="bg1"/>
                </a:solidFill>
              </a:rPr>
              <a:t>slides/</a:t>
            </a:r>
          </a:p>
          <a:p>
            <a:r>
              <a:rPr>
                <a:solidFill>
                  <a:schemeClr val="bg1"/>
                </a:solidFill>
              </a:rPr>
              <a:t>docs/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DD3FC"/>
                </a:solidFill>
              </a:defRPr>
            </a:lvl1pPr>
          </a:lstStyle>
          <a:p>
            <a: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9893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94A3B8"/>
                </a:solidFill>
              </a:defRPr>
            </a:pPr>
            <a:r>
              <a:t>Reproduce: python src/train_baselines.py  •  Report: docs/Model_Evaluation_Report.md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2190</TotalTime>
  <Words>2498</Words>
  <Application>Microsoft Office PowerPoint</Application>
  <PresentationFormat>Widescreen</PresentationFormat>
  <Paragraphs>444</Paragraphs>
  <Slides>13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NLP Course Project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LogTriage Final Presentation - Compliant 5 Slide Version</dc:title>
  <dc:subject>LogTriage Final Presentation</dc:subject>
  <dc:creator>OpenAI</dc:creator>
  <cp:lastModifiedBy>Or Zuka</cp:lastModifiedBy>
  <cp:revision>12</cp:revision>
  <dcterms:created xsi:type="dcterms:W3CDTF">2026-06-05T10:53:49Z</dcterms:created>
  <dcterms:modified xsi:type="dcterms:W3CDTF">2026-06-09T13:09:57Z</dcterms:modified>
</cp:coreProperties>
</file>