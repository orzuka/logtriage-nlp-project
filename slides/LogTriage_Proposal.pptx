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7984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1F"/>
          </a:solidFill>
          <a:ln w="12700">
            <a:solidFill>
              <a:srgbClr val="07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C7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DD3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DD3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5029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Motivating use case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94360" y="1051560"/>
            <a:ext cx="3749040" cy="5166360"/>
          </a:xfrm>
          <a:prstGeom prst="roundRect">
            <a:avLst>
              <a:gd name="adj" fmla="val 2927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E-commerce checkout incident</a:t>
            </a:r>
            <a:endParaRPr lang="en-US" sz="1600" dirty="0"/>
          </a:p>
        </p:txBody>
      </p:sp>
      <p:pic>
        <p:nvPicPr>
          <p:cNvPr id="7" name="Image 0" descr="/mnt/data/logtriage_work/logtriage_submission/visuals/visual_abs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91640"/>
            <a:ext cx="3154680" cy="1353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337560"/>
            <a:ext cx="297180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060" dirty="0">
                <a:solidFill>
                  <a:srgbClr val="F8FAFC"/>
                </a:solidFill>
              </a:rPr>
              <a:t>Checkout failures affect users, orders, and revenue.</a:t>
            </a:r>
            <a:endParaRPr lang="en-US" sz="1060" dirty="0"/>
          </a:p>
          <a:p>
            <a:r>
              <a:rPr lang="en-US" sz="1060" dirty="0">
                <a:solidFill>
                  <a:srgbClr val="F8FAFC"/>
                </a:solidFill>
              </a:rPr>
              <a:t>A single failure creates logs across gateway, auth, cart, payment, inventory, order, database, and queues.</a:t>
            </a:r>
            <a:endParaRPr lang="en-US" sz="1060" dirty="0"/>
          </a:p>
          <a:p>
            <a:r>
              <a:rPr lang="en-US" sz="1060" dirty="0">
                <a:solidFill>
                  <a:srgbClr val="F8FAFC"/>
                </a:solidFill>
              </a:rPr>
              <a:t>Operators must quickly decide: what failed, where, how severe, what action, and what evidence.</a:t>
            </a:r>
            <a:endParaRPr lang="en-US" sz="1060" dirty="0"/>
          </a:p>
        </p:txBody>
      </p:sp>
      <p:sp>
        <p:nvSpPr>
          <p:cNvPr id="9" name="Shape 6"/>
          <p:cNvSpPr/>
          <p:nvPr/>
        </p:nvSpPr>
        <p:spPr>
          <a:xfrm>
            <a:off x="4572000" y="1051560"/>
            <a:ext cx="3291840" cy="5166360"/>
          </a:xfrm>
          <a:prstGeom prst="roundRect">
            <a:avLst>
              <a:gd name="adj" fmla="val 3333"/>
            </a:avLst>
          </a:prstGeom>
          <a:solidFill>
            <a:srgbClr val="10263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4632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Why it is challenging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46320" y="1755648"/>
            <a:ext cx="25146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080" dirty="0">
                <a:solidFill>
                  <a:srgbClr val="F8FAFC"/>
                </a:solidFill>
              </a:rPr>
              <a:t>Logs are noisy and distributed across services.</a:t>
            </a:r>
            <a:endParaRPr lang="en-US" sz="1080" dirty="0"/>
          </a:p>
          <a:p>
            <a:r>
              <a:rPr lang="en-US" sz="1080" dirty="0">
                <a:solidFill>
                  <a:srgbClr val="F8FAFC"/>
                </a:solidFill>
              </a:rPr>
              <a:t>Symptom lines often hide the root cause.</a:t>
            </a:r>
            <a:endParaRPr lang="en-US" sz="1080" dirty="0"/>
          </a:p>
          <a:p>
            <a:r>
              <a:rPr lang="en-US" sz="1080" dirty="0">
                <a:solidFill>
                  <a:srgbClr val="F8FAFC"/>
                </a:solidFill>
              </a:rPr>
              <a:t>Actions must be specific and consistent with the failure.</a:t>
            </a:r>
            <a:endParaRPr lang="en-US" sz="1080" dirty="0"/>
          </a:p>
          <a:p>
            <a:r>
              <a:rPr lang="en-US" sz="1080" dirty="0">
                <a:solidFill>
                  <a:srgbClr val="F8FAFC"/>
                </a:solidFill>
              </a:rPr>
              <a:t>Evidence must be traceable to log line numbers.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846320" y="3977640"/>
            <a:ext cx="2331720" cy="1097280"/>
          </a:xfrm>
          <a:prstGeom prst="roundRect">
            <a:avLst>
              <a:gd name="adj" fmla="val 10000"/>
            </a:avLst>
          </a:prstGeom>
          <a:solidFill>
            <a:srgbClr val="4A2E07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47488" y="4133088"/>
            <a:ext cx="17373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</a:rPr>
              <a:t>Today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10912" y="4453128"/>
            <a:ext cx="18288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F8FAFC"/>
                </a:solidFill>
              </a:rPr>
              <a:t>manual log reading + keyword search + runbooks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8092440" y="1051560"/>
            <a:ext cx="3474720" cy="5166360"/>
          </a:xfrm>
          <a:prstGeom prst="roundRect">
            <a:avLst>
              <a:gd name="adj" fmla="val 3158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3667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Project idea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366760" y="1755648"/>
            <a:ext cx="28346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</a:rPr>
              <a:t>Turn noisy logs into structured operator triage: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366760" y="2212848"/>
            <a:ext cx="2240280" cy="256032"/>
          </a:xfrm>
          <a:prstGeom prst="rect">
            <a:avLst/>
          </a:prstGeom>
          <a:solidFill>
            <a:srgbClr val="18C7D8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21F"/>
                </a:solidFill>
              </a:rPr>
              <a:t>failure cause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366760" y="2624328"/>
            <a:ext cx="2240280" cy="256032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21F"/>
                </a:solidFill>
              </a:rPr>
              <a:t>affected service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366760" y="3035808"/>
            <a:ext cx="2240280" cy="256032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21F"/>
                </a:solidFill>
              </a:rPr>
              <a:t>severity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366760" y="3447288"/>
            <a:ext cx="2240280" cy="256032"/>
          </a:xfrm>
          <a:prstGeom prst="rect">
            <a:avLst/>
          </a:prstGeom>
          <a:solidFill>
            <a:srgbClr val="A855F7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21F"/>
                </a:solidFill>
              </a:rPr>
              <a:t>recommended action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366760" y="3858768"/>
            <a:ext cx="2240280" cy="256032"/>
          </a:xfrm>
          <a:prstGeom prst="rect">
            <a:avLst/>
          </a:prstGeom>
          <a:solidFill>
            <a:srgbClr val="FACC15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21F"/>
                </a:solidFill>
              </a:rPr>
              <a:t>evidence lines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366760" y="4892040"/>
            <a:ext cx="27432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Scope: a fictional ShopFlow e-commerce microservice platform. The method can later adapt to other domains.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LogTriage - Proposal Presentation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DD3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68069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task description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394960" cy="5257800"/>
          </a:xfrm>
          <a:prstGeom prst="roundRect">
            <a:avLst>
              <a:gd name="adj" fmla="val 2087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261872"/>
            <a:ext cx="41148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Formal problem statement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461772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</a:rPr>
              <a:t>Given a numbered multi-line log session from an e-commerce microservice system, predict a structured triage JSON with the root failure, affected service, severity, action, and evidence lines.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1417320" cy="256032"/>
          </a:xfrm>
          <a:prstGeom prst="rect">
            <a:avLst/>
          </a:prstGeom>
          <a:solidFill>
            <a:srgbClr val="18C7D8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21F"/>
                </a:solidFill>
              </a:rPr>
              <a:t>Input log session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4617720" cy="1645920"/>
          </a:xfrm>
          <a:prstGeom prst="roundRect">
            <a:avLst>
              <a:gd name="adj" fmla="val 6667"/>
            </a:avLst>
          </a:prstGeom>
          <a:solidFill>
            <a:srgbClr val="091827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552" y="3182112"/>
            <a:ext cx="4288536" cy="1316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D7E9FF"/>
                </a:solidFill>
              </a:rPr>
              <a:t>[1] gateway INFO POST /checkout request_id=req_912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D7E9FF"/>
                </a:solidFill>
              </a:rPr>
              <a:t>[2] checkout INFO validating cart_id=cart_771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D7E9FF"/>
                </a:solidFill>
              </a:rPr>
              <a:t>[3] payment-service WARN provider_latency=4900ms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D7E9FF"/>
                </a:solidFill>
              </a:rPr>
              <a:t>[4] payment-service ERROR payment gateway timeout after 5000ms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D7E9FF"/>
                </a:solidFill>
              </a:rPr>
              <a:t>[5] order-service ERROR order creation failed: payment authorization missing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D7E9FF"/>
                </a:solidFill>
              </a:rPr>
              <a:t>[6] gateway ERROR status=503 route=/checkout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822960" y="5010912"/>
            <a:ext cx="1143000" cy="256032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21F"/>
                </a:solidFill>
              </a:rPr>
              <a:t>Key novelty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48840" y="5001768"/>
            <a:ext cx="31089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8FAFC"/>
                </a:solidFill>
              </a:rPr>
              <a:t>Not only abnormal/normal. LogTriage produces operator-ready structured decisions with traceable evidence.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5394960" cy="5257800"/>
          </a:xfrm>
          <a:prstGeom prst="roundRect">
            <a:avLst>
              <a:gd name="adj" fmla="val 2087"/>
            </a:avLst>
          </a:prstGeom>
          <a:solidFill>
            <a:srgbClr val="10263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1261872"/>
            <a:ext cx="3840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Structured output schema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92240" y="1664208"/>
            <a:ext cx="4709160" cy="2011680"/>
          </a:xfrm>
          <a:prstGeom prst="roundRect">
            <a:avLst>
              <a:gd name="adj" fmla="val 5455"/>
            </a:avLst>
          </a:prstGeom>
          <a:solidFill>
            <a:srgbClr val="08131F"/>
          </a:solidFill>
          <a:ln w="12700">
            <a:solidFill>
              <a:srgbClr val="1E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56832" y="1828800"/>
            <a:ext cx="4379976" cy="16824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D1FAE5"/>
                </a:solidFill>
              </a:rPr>
              <a:t>{</a:t>
            </a:r>
            <a:endParaRPr lang="en-US" sz="830" dirty="0"/>
          </a:p>
          <a:p>
            <a:pPr marL="0" indent="0" algn="l">
              <a:buNone/>
            </a:pPr>
            <a:r>
              <a:rPr lang="en-US" sz="830" dirty="0">
                <a:solidFill>
                  <a:srgbClr val="D1FAE5"/>
                </a:solidFill>
              </a:rPr>
              <a:t>  "failure_cause": "payment_gateway_timeout",</a:t>
            </a:r>
            <a:endParaRPr lang="en-US" sz="830" dirty="0"/>
          </a:p>
          <a:p>
            <a:pPr marL="0" indent="0" algn="l">
              <a:buNone/>
            </a:pPr>
            <a:r>
              <a:rPr lang="en-US" sz="830" dirty="0">
                <a:solidFill>
                  <a:srgbClr val="D1FAE5"/>
                </a:solidFill>
              </a:rPr>
              <a:t>  "affected_service": "payment-service",</a:t>
            </a:r>
            <a:endParaRPr lang="en-US" sz="830" dirty="0"/>
          </a:p>
          <a:p>
            <a:pPr marL="0" indent="0" algn="l">
              <a:buNone/>
            </a:pPr>
            <a:r>
              <a:rPr lang="en-US" sz="830" dirty="0">
                <a:solidFill>
                  <a:srgbClr val="D1FAE5"/>
                </a:solidFill>
              </a:rPr>
              <a:t>  "severity": "high",</a:t>
            </a:r>
            <a:endParaRPr lang="en-US" sz="830" dirty="0"/>
          </a:p>
          <a:p>
            <a:pPr marL="0" indent="0" algn="l">
              <a:buNone/>
            </a:pPr>
            <a:r>
              <a:rPr lang="en-US" sz="830" dirty="0">
                <a:solidFill>
                  <a:srgbClr val="D1FAE5"/>
                </a:solidFill>
              </a:rPr>
              <a:t>  "recommended_action": "check_payment_gateway_and_retry",</a:t>
            </a:r>
            <a:endParaRPr lang="en-US" sz="830" dirty="0"/>
          </a:p>
          <a:p>
            <a:pPr marL="0" indent="0" algn="l">
              <a:buNone/>
            </a:pPr>
            <a:r>
              <a:rPr lang="en-US" sz="830" dirty="0">
                <a:solidFill>
                  <a:srgbClr val="D1FAE5"/>
                </a:solidFill>
              </a:rPr>
              <a:t>  "evidence_lines": [3, 4, 6]</a:t>
            </a:r>
            <a:endParaRPr lang="en-US" sz="830" dirty="0"/>
          </a:p>
          <a:p>
            <a:pPr marL="0" indent="0" algn="l">
              <a:buNone/>
            </a:pPr>
            <a:r>
              <a:rPr lang="en-US" sz="830" dirty="0">
                <a:solidFill>
                  <a:srgbClr val="D1FAE5"/>
                </a:solidFill>
              </a:rPr>
              <a:t>}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649224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7316"/>
                </a:solidFill>
              </a:rPr>
              <a:t>Fixed taxonomies make the task measurable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4352544"/>
            <a:ext cx="438912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950" dirty="0">
                <a:solidFill>
                  <a:srgbClr val="F8FAFC"/>
                </a:solidFill>
              </a:rPr>
              <a:t>failure_cause: 12 classes such as payment timeout, database query failure, authentication failure</a:t>
            </a:r>
            <a:endParaRPr lang="en-US" sz="950" dirty="0"/>
          </a:p>
          <a:p>
            <a:r>
              <a:rPr lang="en-US" sz="950" dirty="0">
                <a:solidFill>
                  <a:srgbClr val="F8FAFC"/>
                </a:solidFill>
              </a:rPr>
              <a:t>affected_service: gateway, auth, payment, inventory, database, queue, etc.</a:t>
            </a:r>
            <a:endParaRPr lang="en-US" sz="950" dirty="0"/>
          </a:p>
          <a:p>
            <a:r>
              <a:rPr lang="en-US" sz="950" dirty="0">
                <a:solidFill>
                  <a:srgbClr val="F8FAFC"/>
                </a:solidFill>
              </a:rPr>
              <a:t>recommended_action: retry, check credentials, scale, rollback, inspect dependency, open incident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LogTriage - Proposal Presentation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DD3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572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 and methods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0263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243584"/>
            <a:ext cx="1234440" cy="438912"/>
          </a:xfrm>
          <a:prstGeom prst="roundRect">
            <a:avLst>
              <a:gd name="adj" fmla="val 25000"/>
            </a:avLst>
          </a:prstGeom>
          <a:solidFill>
            <a:srgbClr val="0B2335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344168"/>
            <a:ext cx="11430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AFC"/>
                </a:solidFill>
              </a:rPr>
              <a:t>Taxonomy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2048256" y="13350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DD3FC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60320" y="1243584"/>
            <a:ext cx="1234440" cy="438912"/>
          </a:xfrm>
          <a:prstGeom prst="roundRect">
            <a:avLst>
              <a:gd name="adj" fmla="val 25000"/>
            </a:avLst>
          </a:prstGeom>
          <a:solidFill>
            <a:srgbClr val="4A2E07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6040" y="1344168"/>
            <a:ext cx="11430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AFC"/>
                </a:solidFill>
              </a:rPr>
              <a:t>LLM generation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3831336" y="13350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DD3FC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1243584"/>
            <a:ext cx="1234440" cy="438912"/>
          </a:xfrm>
          <a:prstGeom prst="roundRect">
            <a:avLst>
              <a:gd name="adj" fmla="val 25000"/>
            </a:avLst>
          </a:prstGeom>
          <a:solidFill>
            <a:srgbClr val="0B2335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1344168"/>
            <a:ext cx="11430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AFC"/>
                </a:solidFill>
              </a:rPr>
              <a:t>Validation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5614416" y="13350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DD3FC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1243584"/>
            <a:ext cx="1234440" cy="438912"/>
          </a:xfrm>
          <a:prstGeom prst="roundRect">
            <a:avLst>
              <a:gd name="adj" fmla="val 25000"/>
            </a:avLst>
          </a:prstGeom>
          <a:solidFill>
            <a:srgbClr val="0B2335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1344168"/>
            <a:ext cx="11430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AFC"/>
                </a:solidFill>
              </a:rPr>
              <a:t>EDA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7397496" y="13350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DD3FC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09560" y="1243584"/>
            <a:ext cx="1234440" cy="438912"/>
          </a:xfrm>
          <a:prstGeom prst="roundRect">
            <a:avLst>
              <a:gd name="adj" fmla="val 25000"/>
            </a:avLst>
          </a:prstGeom>
          <a:solidFill>
            <a:srgbClr val="0B2335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55280" y="1344168"/>
            <a:ext cx="11430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AFC"/>
                </a:solidFill>
              </a:rPr>
              <a:t>Baselines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9180576" y="13350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DD3FC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92640" y="1243584"/>
            <a:ext cx="1234440" cy="438912"/>
          </a:xfrm>
          <a:prstGeom prst="roundRect">
            <a:avLst>
              <a:gd name="adj" fmla="val 25000"/>
            </a:avLst>
          </a:prstGeom>
          <a:solidFill>
            <a:srgbClr val="0B2335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738360" y="1344168"/>
            <a:ext cx="11430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8FAFC"/>
                </a:solidFill>
              </a:rPr>
              <a:t>Evaluation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94360" y="2331720"/>
            <a:ext cx="3246120" cy="3840480"/>
          </a:xfrm>
          <a:prstGeom prst="roundRect">
            <a:avLst>
              <a:gd name="adj" fmla="val 3380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2560320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DD3FC"/>
                </a:solidFill>
              </a:rPr>
              <a:t>Generation + validation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8680" y="2971800"/>
            <a:ext cx="25603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010" dirty="0">
                <a:solidFill>
                  <a:srgbClr val="F8FAFC"/>
                </a:solidFill>
              </a:rPr>
              <a:t>LLM creates log sessions from controlled attributes.</a:t>
            </a:r>
            <a:endParaRPr lang="en-US" sz="1010" dirty="0"/>
          </a:p>
          <a:p>
            <a:r>
              <a:rPr lang="en-US" sz="1010" dirty="0">
                <a:solidFill>
                  <a:srgbClr val="F8FAFC"/>
                </a:solidFill>
              </a:rPr>
              <a:t>Validator checks JSON, allowed labels, evidence-line references, duplicate sessions, and class balance.</a:t>
            </a:r>
            <a:endParaRPr lang="en-US" sz="1010" dirty="0"/>
          </a:p>
          <a:p>
            <a:r>
              <a:rPr lang="en-US" sz="1010" dirty="0">
                <a:solidFill>
                  <a:srgbClr val="F8FAFC"/>
                </a:solidFill>
              </a:rPr>
              <a:t>Manual spot-checking planned for a gold subset.</a:t>
            </a:r>
            <a:endParaRPr lang="en-US" sz="1010" dirty="0"/>
          </a:p>
        </p:txBody>
      </p:sp>
      <p:sp>
        <p:nvSpPr>
          <p:cNvPr id="26" name="Shape 24"/>
          <p:cNvSpPr/>
          <p:nvPr/>
        </p:nvSpPr>
        <p:spPr>
          <a:xfrm>
            <a:off x="4069080" y="233172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343400" y="2560320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DD3FC"/>
                </a:solidFill>
              </a:rPr>
              <a:t>Model comparison plan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343400" y="2971800"/>
            <a:ext cx="2788920" cy="438912"/>
          </a:xfrm>
          <a:prstGeom prst="roundRect">
            <a:avLst>
              <a:gd name="adj" fmla="val 25000"/>
            </a:avLst>
          </a:prstGeom>
          <a:solidFill>
            <a:srgbClr val="0B2335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80560" y="3063240"/>
            <a:ext cx="13258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8FAFC"/>
                </a:solidFill>
              </a:rPr>
              <a:t>Rule baseline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5806440" y="3063240"/>
            <a:ext cx="11430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DD3FC"/>
                </a:solidFill>
              </a:rPr>
              <a:t>keywords/runbook rules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4343400" y="3538728"/>
            <a:ext cx="2788920" cy="438912"/>
          </a:xfrm>
          <a:prstGeom prst="roundRect">
            <a:avLst>
              <a:gd name="adj" fmla="val 25000"/>
            </a:avLst>
          </a:prstGeom>
          <a:solidFill>
            <a:srgbClr val="10263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80560" y="3630168"/>
            <a:ext cx="13258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8FAFC"/>
                </a:solidFill>
              </a:rPr>
              <a:t>TF-IDF + LogReg/SVM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5806440" y="3630168"/>
            <a:ext cx="11430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DD3FC"/>
                </a:solidFill>
              </a:rPr>
              <a:t>classical NLP baseline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4343400" y="4105656"/>
            <a:ext cx="2788920" cy="438912"/>
          </a:xfrm>
          <a:prstGeom prst="roundRect">
            <a:avLst>
              <a:gd name="adj" fmla="val 25000"/>
            </a:avLst>
          </a:prstGeom>
          <a:solidFill>
            <a:srgbClr val="0B2335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80560" y="4197096"/>
            <a:ext cx="13258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8FAFC"/>
                </a:solidFill>
              </a:rPr>
              <a:t>Zero/Few-shot LLM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5806440" y="4197096"/>
            <a:ext cx="11430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DD3FC"/>
                </a:solidFill>
              </a:rPr>
              <a:t>prompt-only benchmark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4343400" y="4672584"/>
            <a:ext cx="2788920" cy="438912"/>
          </a:xfrm>
          <a:prstGeom prst="roundRect">
            <a:avLst>
              <a:gd name="adj" fmla="val 25000"/>
            </a:avLst>
          </a:prstGeom>
          <a:solidFill>
            <a:srgbClr val="10263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480560" y="4764024"/>
            <a:ext cx="13258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8FAFC"/>
                </a:solidFill>
              </a:rPr>
              <a:t>DistilBERT/RoBERTa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5806440" y="4764024"/>
            <a:ext cx="11430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DD3FC"/>
                </a:solidFill>
              </a:rPr>
              <a:t>fine-tuned extension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4343400" y="5440680"/>
            <a:ext cx="27889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94A3B8"/>
                </a:solidFill>
              </a:rPr>
              <a:t>Fine-tuning approach: train classifiers for cause, service, severity, and action; evaluate evidence lines separately.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7909560" y="2331720"/>
            <a:ext cx="3657600" cy="3840480"/>
          </a:xfrm>
          <a:prstGeom prst="roundRect">
            <a:avLst>
              <a:gd name="adj" fmla="val 3000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183880" y="2560320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DD3FC"/>
                </a:solidFill>
              </a:rPr>
              <a:t>Quality adjustments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183880" y="2971800"/>
            <a:ext cx="28803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010" dirty="0">
                <a:solidFill>
                  <a:srgbClr val="F8FAFC"/>
                </a:solidFill>
              </a:rPr>
              <a:t>Balance failure classes and severity levels.</a:t>
            </a:r>
            <a:endParaRPr lang="en-US" sz="1010" dirty="0"/>
          </a:p>
          <a:p>
            <a:r>
              <a:rPr lang="en-US" sz="1010" dirty="0">
                <a:solidFill>
                  <a:srgbClr val="F8FAFC"/>
                </a:solidFill>
              </a:rPr>
              <a:t>Vary noise level, length, wording, service path, and log format.</a:t>
            </a:r>
            <a:endParaRPr lang="en-US" sz="1010" dirty="0"/>
          </a:p>
          <a:p>
            <a:r>
              <a:rPr lang="en-US" sz="1010" dirty="0">
                <a:solidFill>
                  <a:srgbClr val="F8FAFC"/>
                </a:solidFill>
              </a:rPr>
              <a:t>Add misleading symptom lines to reduce keyword shortcuts.</a:t>
            </a:r>
            <a:endParaRPr lang="en-US" sz="1010" dirty="0"/>
          </a:p>
          <a:p>
            <a:r>
              <a:rPr lang="en-US" sz="1010" dirty="0">
                <a:solidFill>
                  <a:srgbClr val="F8FAFC"/>
                </a:solidFill>
              </a:rPr>
              <a:t>Use error analysis to refine generation prompts.</a:t>
            </a:r>
            <a:endParaRPr lang="en-US" sz="1010" dirty="0"/>
          </a:p>
        </p:txBody>
      </p:sp>
      <p:sp>
        <p:nvSpPr>
          <p:cNvPr id="44" name="Text 42"/>
          <p:cNvSpPr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LogTriage - Proposal Presentation</a:t>
            </a:r>
            <a:endParaRPr lang="en-US" sz="8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DD3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416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specification and generation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657600" cy="5349240"/>
          </a:xfrm>
          <a:prstGeom prst="roundRect">
            <a:avLst>
              <a:gd name="adj" fmla="val 3000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Data schema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719072"/>
            <a:ext cx="21031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</a:rPr>
              <a:t>Each example contains: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084832"/>
            <a:ext cx="265176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040" dirty="0">
                <a:solidFill>
                  <a:srgbClr val="F8FAFC"/>
                </a:solidFill>
              </a:rPr>
              <a:t>session_id</a:t>
            </a:r>
            <a:endParaRPr lang="en-US" sz="1040" dirty="0"/>
          </a:p>
          <a:p>
            <a:r>
              <a:rPr lang="en-US" sz="1040" dirty="0">
                <a:solidFill>
                  <a:srgbClr val="F8FAFC"/>
                </a:solidFill>
              </a:rPr>
              <a:t>numbered logs[]</a:t>
            </a:r>
            <a:endParaRPr lang="en-US" sz="1040" dirty="0"/>
          </a:p>
          <a:p>
            <a:r>
              <a:rPr lang="en-US" sz="1040" dirty="0">
                <a:solidFill>
                  <a:srgbClr val="F8FAFC"/>
                </a:solidFill>
              </a:rPr>
              <a:t>failure_cause</a:t>
            </a:r>
            <a:endParaRPr lang="en-US" sz="1040" dirty="0"/>
          </a:p>
          <a:p>
            <a:r>
              <a:rPr lang="en-US" sz="1040" dirty="0">
                <a:solidFill>
                  <a:srgbClr val="F8FAFC"/>
                </a:solidFill>
              </a:rPr>
              <a:t>affected_service</a:t>
            </a:r>
            <a:endParaRPr lang="en-US" sz="1040" dirty="0"/>
          </a:p>
          <a:p>
            <a:r>
              <a:rPr lang="en-US" sz="1040" dirty="0">
                <a:solidFill>
                  <a:srgbClr val="F8FAFC"/>
                </a:solidFill>
              </a:rPr>
              <a:t>severity</a:t>
            </a:r>
            <a:endParaRPr lang="en-US" sz="1040" dirty="0"/>
          </a:p>
          <a:p>
            <a:r>
              <a:rPr lang="en-US" sz="1040" dirty="0">
                <a:solidFill>
                  <a:srgbClr val="F8FAFC"/>
                </a:solidFill>
              </a:rPr>
              <a:t>recommended_action</a:t>
            </a:r>
            <a:endParaRPr lang="en-US" sz="1040" dirty="0"/>
          </a:p>
          <a:p>
            <a:r>
              <a:rPr lang="en-US" sz="1040" dirty="0">
                <a:solidFill>
                  <a:srgbClr val="F8FAFC"/>
                </a:solidFill>
              </a:rPr>
              <a:t>evidence_lines[]</a:t>
            </a:r>
            <a:endParaRPr lang="en-US" sz="1040" dirty="0"/>
          </a:p>
          <a:p>
            <a:r>
              <a:rPr lang="en-US" sz="1040" dirty="0">
                <a:solidFill>
                  <a:srgbClr val="F8FAFC"/>
                </a:solidFill>
              </a:rPr>
              <a:t>noise_level + metadata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868680" y="3977640"/>
            <a:ext cx="1143000" cy="658368"/>
          </a:xfrm>
          <a:prstGeom prst="roundRect">
            <a:avLst>
              <a:gd name="adj" fmla="val 16667"/>
            </a:avLst>
          </a:prstGeom>
          <a:solidFill>
            <a:srgbClr val="0B2335"/>
          </a:solidFill>
          <a:ln w="12700">
            <a:solidFill>
              <a:srgbClr val="1E4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4050792"/>
            <a:ext cx="996696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</a:rPr>
              <a:t>5,000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41832" y="4315968"/>
            <a:ext cx="99669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F8FAFC"/>
                </a:solidFill>
              </a:rPr>
              <a:t>target examples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057400" y="3977640"/>
            <a:ext cx="1143000" cy="658368"/>
          </a:xfrm>
          <a:prstGeom prst="roundRect">
            <a:avLst>
              <a:gd name="adj" fmla="val 16667"/>
            </a:avLst>
          </a:prstGeom>
          <a:solidFill>
            <a:srgbClr val="0B2335"/>
          </a:solidFill>
          <a:ln w="12700">
            <a:solidFill>
              <a:srgbClr val="1E4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30552" y="4050792"/>
            <a:ext cx="996696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</a:rPr>
              <a:t>70/15/15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30552" y="4315968"/>
            <a:ext cx="99669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F8FAFC"/>
                </a:solidFill>
              </a:rPr>
              <a:t>split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868680" y="4828032"/>
            <a:ext cx="1143000" cy="658368"/>
          </a:xfrm>
          <a:prstGeom prst="roundRect">
            <a:avLst>
              <a:gd name="adj" fmla="val 16667"/>
            </a:avLst>
          </a:prstGeom>
          <a:solidFill>
            <a:srgbClr val="0B2335"/>
          </a:solidFill>
          <a:ln w="12700">
            <a:solidFill>
              <a:srgbClr val="1E4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1832" y="4901184"/>
            <a:ext cx="996696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55F7"/>
                </a:solidFill>
              </a:rPr>
              <a:t>12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1832" y="5166360"/>
            <a:ext cx="99669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F8FAFC"/>
                </a:solidFill>
              </a:rPr>
              <a:t>failure types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2057400" y="4828032"/>
            <a:ext cx="1143000" cy="658368"/>
          </a:xfrm>
          <a:prstGeom prst="roundRect">
            <a:avLst>
              <a:gd name="adj" fmla="val 16667"/>
            </a:avLst>
          </a:prstGeom>
          <a:solidFill>
            <a:srgbClr val="0B2335"/>
          </a:solidFill>
          <a:ln w="12700">
            <a:solidFill>
              <a:srgbClr val="1E4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30552" y="4901184"/>
            <a:ext cx="996696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C7D8"/>
                </a:solidFill>
              </a:rPr>
              <a:t>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130552" y="5166360"/>
            <a:ext cx="99669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F8FAFC"/>
                </a:solidFill>
              </a:rPr>
              <a:t>schema issues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434840" y="1005840"/>
            <a:ext cx="3291840" cy="5349240"/>
          </a:xfrm>
          <a:prstGeom prst="roundRect">
            <a:avLst>
              <a:gd name="adj" fmla="val 3333"/>
            </a:avLst>
          </a:prstGeom>
          <a:solidFill>
            <a:srgbClr val="10263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1234440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Controlled attributes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09160" y="1719072"/>
            <a:ext cx="1965960" cy="256032"/>
          </a:xfrm>
          <a:prstGeom prst="rect">
            <a:avLst/>
          </a:prstGeom>
          <a:solidFill>
            <a:srgbClr val="18C7D8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21F"/>
                </a:solidFill>
              </a:rPr>
              <a:t>failure cause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9160" y="2112264"/>
            <a:ext cx="1965960" cy="256032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21F"/>
                </a:solidFill>
              </a:rPr>
              <a:t>affected service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2505456"/>
            <a:ext cx="1965960" cy="256032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21F"/>
                </a:solidFill>
              </a:rPr>
              <a:t>severity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2898648"/>
            <a:ext cx="1965960" cy="256032"/>
          </a:xfrm>
          <a:prstGeom prst="rect">
            <a:avLst/>
          </a:prstGeom>
          <a:solidFill>
            <a:srgbClr val="A855F7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21F"/>
                </a:solidFill>
              </a:rPr>
              <a:t>recommended action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9160" y="3291840"/>
            <a:ext cx="1965960" cy="256032"/>
          </a:xfrm>
          <a:prstGeom prst="rect">
            <a:avLst/>
          </a:prstGeom>
          <a:solidFill>
            <a:srgbClr val="FACC15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21F"/>
                </a:solidFill>
              </a:rPr>
              <a:t>noise level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3685032"/>
            <a:ext cx="1965960" cy="256032"/>
          </a:xfrm>
          <a:prstGeom prst="rect">
            <a:avLst/>
          </a:prstGeom>
          <a:solidFill>
            <a:srgbClr val="7DD3FC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21F"/>
                </a:solidFill>
              </a:rPr>
              <a:t>log length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9160" y="4078224"/>
            <a:ext cx="1965960" cy="256032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21F"/>
                </a:solidFill>
              </a:rPr>
              <a:t>log style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9160" y="4471416"/>
            <a:ext cx="1965960" cy="256032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21F"/>
                </a:solidFill>
              </a:rPr>
              <a:t>service path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9160" y="5166360"/>
            <a:ext cx="24688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</a:rPr>
              <a:t>Why controlled generation?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9160" y="5468112"/>
            <a:ext cx="24688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94A3B8"/>
                </a:solidFill>
              </a:rPr>
              <a:t>It improves diversity, balance, and reproducibility compared with asking the LLM to generate examples randomly.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7955280" y="1005840"/>
            <a:ext cx="3611880" cy="5349240"/>
          </a:xfrm>
          <a:prstGeom prst="roundRect">
            <a:avLst>
              <a:gd name="adj" fmla="val 3038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29600" y="1234440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Generation prompt flow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66760" y="1783080"/>
            <a:ext cx="2468880" cy="438912"/>
          </a:xfrm>
          <a:prstGeom prst="roundRect">
            <a:avLst>
              <a:gd name="adj" fmla="val 25000"/>
            </a:avLst>
          </a:prstGeom>
          <a:solidFill>
            <a:srgbClr val="0B2335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503920" y="1892808"/>
            <a:ext cx="219456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Attributes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464040" y="2286000"/>
            <a:ext cx="320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DD3FC"/>
                </a:solidFill>
              </a:rPr>
              <a:t>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66760" y="2606040"/>
            <a:ext cx="2468880" cy="438912"/>
          </a:xfrm>
          <a:prstGeom prst="roundRect">
            <a:avLst>
              <a:gd name="adj" fmla="val 25000"/>
            </a:avLst>
          </a:prstGeom>
          <a:solidFill>
            <a:srgbClr val="0B2335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503920" y="2715768"/>
            <a:ext cx="219456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Prompt template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464040" y="3108960"/>
            <a:ext cx="320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DD3FC"/>
                </a:solidFill>
              </a:rPr>
              <a:t>↓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66760" y="3429000"/>
            <a:ext cx="2468880" cy="438912"/>
          </a:xfrm>
          <a:prstGeom prst="roundRect">
            <a:avLst>
              <a:gd name="adj" fmla="val 25000"/>
            </a:avLst>
          </a:prstGeom>
          <a:solidFill>
            <a:srgbClr val="4A2E07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503920" y="3538728"/>
            <a:ext cx="219456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LLM output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464040" y="3931920"/>
            <a:ext cx="320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DD3FC"/>
                </a:solidFill>
              </a:rPr>
              <a:t>↓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66760" y="4251960"/>
            <a:ext cx="2468880" cy="438912"/>
          </a:xfrm>
          <a:prstGeom prst="roundRect">
            <a:avLst>
              <a:gd name="adj" fmla="val 25000"/>
            </a:avLst>
          </a:prstGeom>
          <a:solidFill>
            <a:srgbClr val="0B2335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503920" y="4361688"/>
            <a:ext cx="219456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Validation + split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275320" y="5074920"/>
            <a:ext cx="27432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94A3B8"/>
                </a:solidFill>
              </a:rPr>
              <a:t>Generated examples are labeled by construction, then filtered for consistency.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LogTriage - Proposal Presentation</a:t>
            </a:r>
            <a:endParaRPr lang="en-US" sz="85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DD3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582887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Metrics and KPIs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94360" y="1051560"/>
            <a:ext cx="3703320" cy="5166360"/>
          </a:xfrm>
          <a:prstGeom prst="roundRect">
            <a:avLst>
              <a:gd name="adj" fmla="val 2963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End-to-end KPIs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755648"/>
            <a:ext cx="29260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060" dirty="0">
                <a:solidFill>
                  <a:srgbClr val="F8FAFC"/>
                </a:solidFill>
              </a:rPr>
              <a:t>Accuracy and macro-F1 for each classification output.</a:t>
            </a:r>
            <a:endParaRPr lang="en-US" sz="1060" dirty="0"/>
          </a:p>
          <a:p>
            <a:r>
              <a:rPr lang="en-US" sz="1060" dirty="0">
                <a:solidFill>
                  <a:srgbClr val="F8FAFC"/>
                </a:solidFill>
              </a:rPr>
              <a:t>Evidence-line precision, recall, and F1.</a:t>
            </a:r>
            <a:endParaRPr lang="en-US" sz="1060" dirty="0"/>
          </a:p>
          <a:p>
            <a:r>
              <a:rPr lang="en-US" sz="1060" dirty="0">
                <a:solidFill>
                  <a:srgbClr val="F8FAFC"/>
                </a:solidFill>
              </a:rPr>
              <a:t>Full JSON exact match: all fields correct together.</a:t>
            </a:r>
            <a:endParaRPr lang="en-US" sz="1060" dirty="0"/>
          </a:p>
          <a:p>
            <a:r>
              <a:rPr lang="en-US" sz="1060" dirty="0">
                <a:solidFill>
                  <a:srgbClr val="F8FAFC"/>
                </a:solidFill>
              </a:rPr>
              <a:t>Valid JSON rate for LLM outputs.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868680" y="3703320"/>
            <a:ext cx="2834640" cy="1280160"/>
          </a:xfrm>
          <a:prstGeom prst="roundRect">
            <a:avLst>
              <a:gd name="adj" fmla="val 8571"/>
            </a:avLst>
          </a:prstGeom>
          <a:solidFill>
            <a:srgbClr val="0B2335"/>
          </a:solidFill>
          <a:ln w="12700">
            <a:solidFill>
              <a:srgbClr val="1E4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3886200"/>
            <a:ext cx="21945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</a:rPr>
              <a:t>Ground truth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4224528"/>
            <a:ext cx="21031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F8FAFC"/>
                </a:solidFill>
              </a:rPr>
              <a:t>Synthetic labels from controlled generation + schema validation + manual review subset.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4526280" y="1051560"/>
            <a:ext cx="3383280" cy="5166360"/>
          </a:xfrm>
          <a:prstGeom prst="roundRect">
            <a:avLst>
              <a:gd name="adj" fmla="val 3243"/>
            </a:avLst>
          </a:prstGeom>
          <a:solidFill>
            <a:srgbClr val="10263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Metric table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00600" y="1783080"/>
            <a:ext cx="2560320" cy="320040"/>
          </a:xfrm>
          <a:prstGeom prst="roundRect">
            <a:avLst>
              <a:gd name="adj" fmla="val 34286"/>
            </a:avLst>
          </a:prstGeom>
          <a:solidFill>
            <a:srgbClr val="18364D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1865376"/>
            <a:ext cx="7772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7DD3FC"/>
                </a:solidFill>
              </a:rPr>
              <a:t>Output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5715000" y="1865376"/>
            <a:ext cx="14173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7DD3FC"/>
                </a:solidFill>
              </a:rPr>
              <a:t>Metric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800600" y="2221992"/>
            <a:ext cx="2560320" cy="320040"/>
          </a:xfrm>
          <a:prstGeom prst="roundRect">
            <a:avLst>
              <a:gd name="adj" fmla="val 34286"/>
            </a:avLst>
          </a:prstGeom>
          <a:solidFill>
            <a:srgbClr val="0B2335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2304288"/>
            <a:ext cx="7772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cause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5715000" y="2304288"/>
            <a:ext cx="14173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accuracy, macro-F1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4800600" y="2660904"/>
            <a:ext cx="2560320" cy="320040"/>
          </a:xfrm>
          <a:prstGeom prst="roundRect">
            <a:avLst>
              <a:gd name="adj" fmla="val 34286"/>
            </a:avLst>
          </a:prstGeom>
          <a:solidFill>
            <a:srgbClr val="10263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2743200"/>
            <a:ext cx="7772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service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5715000" y="2743200"/>
            <a:ext cx="14173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accuracy, macro-F1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800600" y="3099816"/>
            <a:ext cx="2560320" cy="320040"/>
          </a:xfrm>
          <a:prstGeom prst="roundRect">
            <a:avLst>
              <a:gd name="adj" fmla="val 34286"/>
            </a:avLst>
          </a:prstGeom>
          <a:solidFill>
            <a:srgbClr val="0B2335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3182112"/>
            <a:ext cx="7772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severity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715000" y="3182112"/>
            <a:ext cx="14173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accuracy, macro-F1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4800600" y="3538728"/>
            <a:ext cx="2560320" cy="320040"/>
          </a:xfrm>
          <a:prstGeom prst="roundRect">
            <a:avLst>
              <a:gd name="adj" fmla="val 34286"/>
            </a:avLst>
          </a:prstGeom>
          <a:solidFill>
            <a:srgbClr val="10263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3621024"/>
            <a:ext cx="7772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action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5715000" y="3621024"/>
            <a:ext cx="14173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accuracy, macro-F1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4800600" y="3977640"/>
            <a:ext cx="2560320" cy="320040"/>
          </a:xfrm>
          <a:prstGeom prst="roundRect">
            <a:avLst>
              <a:gd name="adj" fmla="val 34286"/>
            </a:avLst>
          </a:prstGeom>
          <a:solidFill>
            <a:srgbClr val="0B2335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37760" y="4059936"/>
            <a:ext cx="7772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evidence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5715000" y="4059936"/>
            <a:ext cx="14173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precision, recall, F1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4800600" y="4416552"/>
            <a:ext cx="2560320" cy="320040"/>
          </a:xfrm>
          <a:prstGeom prst="roundRect">
            <a:avLst>
              <a:gd name="adj" fmla="val 34286"/>
            </a:avLst>
          </a:prstGeom>
          <a:solidFill>
            <a:srgbClr val="10263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37760" y="4498848"/>
            <a:ext cx="7772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full JSON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5715000" y="4498848"/>
            <a:ext cx="14173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F8FAFC"/>
                </a:solidFill>
              </a:rPr>
              <a:t>exact match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8138160" y="1051560"/>
            <a:ext cx="3429000" cy="5166360"/>
          </a:xfrm>
          <a:prstGeom prst="roundRect">
            <a:avLst>
              <a:gd name="adj" fmla="val 3200"/>
            </a:avLst>
          </a:prstGeom>
          <a:solidFill>
            <a:srgbClr val="0E1B2A"/>
          </a:solidFill>
          <a:ln w="12700">
            <a:solidFill>
              <a:srgbClr val="244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41248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D3FC"/>
                </a:solidFill>
              </a:rPr>
              <a:t>Quality measurements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12480" y="1755648"/>
            <a:ext cx="26060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970" dirty="0">
                <a:solidFill>
                  <a:srgbClr val="F8FAFC"/>
                </a:solidFill>
              </a:rPr>
              <a:t>Data quality: class balance, duplicate rate, length distribution, noise distribution.</a:t>
            </a:r>
            <a:endParaRPr lang="en-US" sz="970" dirty="0"/>
          </a:p>
          <a:p>
            <a:r>
              <a:rPr lang="en-US" sz="970" dirty="0">
                <a:solidFill>
                  <a:srgbClr val="F8FAFC"/>
                </a:solidFill>
              </a:rPr>
              <a:t>Model quality: benchmark table + confusion matrix + error analysis.</a:t>
            </a:r>
            <a:endParaRPr lang="en-US" sz="970" dirty="0"/>
          </a:p>
          <a:p>
            <a:r>
              <a:rPr lang="en-US" sz="970" dirty="0">
                <a:solidFill>
                  <a:srgbClr val="F8FAFC"/>
                </a:solidFill>
              </a:rPr>
              <a:t>Explainability: evidence-line scores and examples of correct/wrong evidence.</a:t>
            </a:r>
            <a:endParaRPr lang="en-US" sz="970" dirty="0"/>
          </a:p>
          <a:p>
            <a:r>
              <a:rPr lang="en-US" sz="970" dirty="0">
                <a:solidFill>
                  <a:srgbClr val="F8FAFC"/>
                </a:solidFill>
              </a:rPr>
              <a:t>Robustness: compare performance by noise level and failure type.</a:t>
            </a:r>
            <a:endParaRPr lang="en-US" sz="970" dirty="0"/>
          </a:p>
        </p:txBody>
      </p:sp>
      <p:sp>
        <p:nvSpPr>
          <p:cNvPr id="37" name="Text 35"/>
          <p:cNvSpPr/>
          <p:nvPr/>
        </p:nvSpPr>
        <p:spPr>
          <a:xfrm>
            <a:off x="8412480" y="4663440"/>
            <a:ext cx="23774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</a:rPr>
              <a:t>Expected final result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12480" y="4983480"/>
            <a:ext cx="2514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4A3B8"/>
                </a:solidFill>
              </a:rPr>
              <a:t>A complete pipeline that proves structured log triage is measurable and feasible on controlled synthetic logs.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LogTriage - Proposal Presentation</a:t>
            </a:r>
            <a:endParaRPr lang="en-US" sz="8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DD3F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833</Words>
  <Application>Microsoft Office PowerPoint</Application>
  <PresentationFormat>Widescreen</PresentationFormat>
  <Paragraphs>159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NLP Course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LogTriage Proposal Presentation</dc:title>
  <dc:subject>LogTriage Proposal Presentation</dc:subject>
  <dc:creator>OpenAI</dc:creator>
  <cp:lastModifiedBy>Or Zuka</cp:lastModifiedBy>
  <cp:revision>2</cp:revision>
  <dcterms:created xsi:type="dcterms:W3CDTF">2026-06-05T11:06:38Z</dcterms:created>
  <dcterms:modified xsi:type="dcterms:W3CDTF">2026-06-05T12:09:00Z</dcterms:modified>
</cp:coreProperties>
</file>